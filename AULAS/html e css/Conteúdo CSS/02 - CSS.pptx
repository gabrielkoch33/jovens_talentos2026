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670550" cx="10080625"/>
  <p:notesSz cx="7559675" cy="106918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m13h6z0xKk7knhxjrxJMM7bnz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d4794a05a2_0_1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2d4794a05a2_0_1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0" name="Google Shape;270;g2d4794a05a2_0_1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4794a05a2_0_20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2d4794a05a2_0_20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9" name="Google Shape;279;g2d4794a05a2_0_20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d4794a05a2_0_22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2d4794a05a2_0_222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1" name="Google Shape;291;g2d4794a05a2_0_22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d4794a05a2_0_23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2d4794a05a2_0_23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9" name="Google Shape;299;g2d4794a05a2_0_23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d47c2cebfd_1_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2d47c2cebfd_1_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8" name="Google Shape;308;g2d47c2cebfd_1_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d47c2cebfd_1_1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2d47c2cebfd_1_1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7" name="Google Shape;317;g2d47c2cebfd_1_1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d47c2cebfd_1_2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2d47c2cebfd_1_28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6" name="Google Shape;326;g2d47c2cebfd_1_28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d47c2cebfd_1_3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2d47c2cebfd_1_37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4" name="Google Shape;334;g2d47c2cebfd_1_37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47c2cebfd_1_5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2d47c2cebfd_1_58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4" name="Google Shape;344;g2d47c2cebfd_1_58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d47c2cebfd_1_7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2d47c2cebfd_1_78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3" name="Google Shape;353;g2d47c2cebfd_1_78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d47c2cebfd_1_9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2d47c2cebfd_1_91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2" name="Google Shape;362;g2d47c2cebfd_1_91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d47c2cebfd_1_10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2d47c2cebfd_1_10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1" name="Google Shape;371;g2d47c2cebfd_1_10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d47c2cebfd_1_11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2d47c2cebfd_1_118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0" name="Google Shape;380;g2d47c2cebfd_1_118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d47c2cebfd_1_13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2d47c2cebfd_1_13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9" name="Google Shape;389;g2d47c2cebfd_1_13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d4794a05a2_0_11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2d4794a05a2_0_11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8" name="Google Shape;398;g2d4794a05a2_0_11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22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" name="Google Shape;2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6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7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7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7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8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0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5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5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5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5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5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5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998177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5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5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5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5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5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5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5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5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5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5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5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5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7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5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5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8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58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58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58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8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5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5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9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59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9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0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0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6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6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1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61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6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6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503238" y="225425"/>
            <a:ext cx="9069387" cy="944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 rot="5400000">
            <a:off x="6244431" y="1286669"/>
            <a:ext cx="43894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 rot="5400000">
            <a:off x="1633537" y="-904875"/>
            <a:ext cx="43894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 rot="5400000">
            <a:off x="3394075" y="-1563687"/>
            <a:ext cx="3287712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976438" y="3968750"/>
            <a:ext cx="604837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1976438" y="506413"/>
            <a:ext cx="6048375" cy="3402012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976438" y="4438650"/>
            <a:ext cx="6048375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3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504825" y="225425"/>
            <a:ext cx="3316288" cy="960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941763" y="225425"/>
            <a:ext cx="5635625" cy="4840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2" type="body"/>
          </p:nvPr>
        </p:nvSpPr>
        <p:spPr>
          <a:xfrm>
            <a:off x="504825" y="1185863"/>
            <a:ext cx="3316288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504825" y="227013"/>
            <a:ext cx="9072563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504825" y="1270000"/>
            <a:ext cx="4452938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2" type="body"/>
          </p:nvPr>
        </p:nvSpPr>
        <p:spPr>
          <a:xfrm>
            <a:off x="504825" y="1798638"/>
            <a:ext cx="4452938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3" type="body"/>
          </p:nvPr>
        </p:nvSpPr>
        <p:spPr>
          <a:xfrm>
            <a:off x="5121275" y="1270000"/>
            <a:ext cx="4456113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4" type="body"/>
          </p:nvPr>
        </p:nvSpPr>
        <p:spPr>
          <a:xfrm>
            <a:off x="5121275" y="1798638"/>
            <a:ext cx="4456113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3238" y="1327150"/>
            <a:ext cx="4457700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5113338" y="1327150"/>
            <a:ext cx="4459287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796925" y="3643313"/>
            <a:ext cx="8567738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796925" y="2403475"/>
            <a:ext cx="8567738" cy="12398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755650" y="1762125"/>
            <a:ext cx="8569325" cy="121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1512888" y="3213100"/>
            <a:ext cx="7056437" cy="1449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72" name="Google Shape;17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0080625" cy="565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503237" y="35782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CSS</a:t>
            </a:r>
            <a:endParaRPr b="0" i="0" sz="3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64" name="Google Shape;2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CSS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DEFINIÇÕES BÁSICAS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"/>
          <p:cNvSpPr txBox="1"/>
          <p:nvPr/>
        </p:nvSpPr>
        <p:spPr>
          <a:xfrm>
            <a:off x="153675" y="1336275"/>
            <a:ext cx="97902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556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pt-BR" sz="2000"/>
              <a:t>CSS é a linguagem que usamos para estilizar um documento HTML;</a:t>
            </a:r>
            <a:endParaRPr sz="2000"/>
          </a:p>
          <a:p>
            <a:pPr indent="-3556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CSS significa Cascading Style Sheets;</a:t>
            </a:r>
            <a:endParaRPr sz="2000"/>
          </a:p>
          <a:p>
            <a:pPr indent="-3556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CSS descreve como os elementos HTML devem ser exibidos;</a:t>
            </a:r>
            <a:endParaRPr sz="2000"/>
          </a:p>
          <a:p>
            <a:pPr indent="-3556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CSS economiza muito trabalho. Ele pode controlar o layout de várias páginas da web de uma só vez;</a:t>
            </a:r>
            <a:endParaRPr sz="2000"/>
          </a:p>
          <a:p>
            <a:pPr indent="-3556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Folhas de estilo externas são armazenadas em arquivos CSS.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72" name="Google Shape;272;g2d4794a05a2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2d4794a05a2_0_19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SINTAXE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274" name="Google Shape;274;g2d4794a05a2_0_19"/>
          <p:cNvSpPr txBox="1"/>
          <p:nvPr/>
        </p:nvSpPr>
        <p:spPr>
          <a:xfrm>
            <a:off x="153675" y="1336275"/>
            <a:ext cx="9790200" cy="24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 sintaxe do CSS é composta pelo seletor, bloco de declaração, propriedade e valor;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 seletor aponta para o elemento HTML que você deseja estilizar;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 bloco de declaração contém uma ou mais declarações separadas por ponto e vírgula;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Cada declaração inclui um nome de propriedade CSS e um valor, separados por dois pontos;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Várias declarações CSS são separadas por ponto e vírgula, e os blocos de declaração são cercados por chaves.</a:t>
            </a:r>
            <a:endParaRPr sz="1600"/>
          </a:p>
        </p:txBody>
      </p:sp>
      <p:sp>
        <p:nvSpPr>
          <p:cNvPr id="275" name="Google Shape;275;g2d4794a05a2_0_19"/>
          <p:cNvSpPr txBox="1"/>
          <p:nvPr/>
        </p:nvSpPr>
        <p:spPr>
          <a:xfrm>
            <a:off x="145225" y="3737025"/>
            <a:ext cx="97902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color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red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text-align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center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81" name="Google Shape;281;g2d4794a05a2_0_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2d4794a05a2_0_203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SELETORES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283" name="Google Shape;283;g2d4794a05a2_0_203"/>
          <p:cNvSpPr txBox="1"/>
          <p:nvPr/>
        </p:nvSpPr>
        <p:spPr>
          <a:xfrm>
            <a:off x="153675" y="1336275"/>
            <a:ext cx="9790200" cy="24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Os seletores CSS são usados ​​para selecionar os elementos HTML que você deseja estilizar;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As principais formas de seletores são:</a:t>
            </a:r>
            <a:endParaRPr sz="1600"/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Seletor de elementos elementos HTML com base no nome;</a:t>
            </a:r>
            <a:endParaRPr sz="1600"/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Seletor de</a:t>
            </a:r>
            <a:r>
              <a:rPr lang="pt-BR" sz="1600"/>
              <a:t> elemento com um</a:t>
            </a:r>
            <a:r>
              <a:rPr lang="pt-BR" sz="1600"/>
              <a:t> id específico, pelo caractere </a:t>
            </a:r>
            <a:r>
              <a:rPr lang="pt-BR" sz="1600"/>
              <a:t>cerquilha </a:t>
            </a:r>
            <a:r>
              <a:rPr lang="pt-BR" sz="1600"/>
              <a:t>(#), seguido do id;</a:t>
            </a:r>
            <a:endParaRPr sz="1600"/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Seletor de elementos HTML com um atributo de classe específico;</a:t>
            </a:r>
            <a:endParaRPr sz="1600"/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Seletor universal (*) seleciona todos os elementos HTML na página.</a:t>
            </a:r>
            <a:endParaRPr sz="1600"/>
          </a:p>
        </p:txBody>
      </p:sp>
      <p:sp>
        <p:nvSpPr>
          <p:cNvPr id="284" name="Google Shape;284;g2d4794a05a2_0_203"/>
          <p:cNvSpPr txBox="1"/>
          <p:nvPr/>
        </p:nvSpPr>
        <p:spPr>
          <a:xfrm>
            <a:off x="145225" y="3737025"/>
            <a:ext cx="25080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color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red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text-align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center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g2d4794a05a2_0_203"/>
          <p:cNvSpPr txBox="1"/>
          <p:nvPr/>
        </p:nvSpPr>
        <p:spPr>
          <a:xfrm>
            <a:off x="2653225" y="3737025"/>
            <a:ext cx="25080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#para1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color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red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text-align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center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" name="Google Shape;286;g2d4794a05a2_0_203"/>
          <p:cNvSpPr txBox="1"/>
          <p:nvPr/>
        </p:nvSpPr>
        <p:spPr>
          <a:xfrm>
            <a:off x="5161225" y="3737025"/>
            <a:ext cx="25080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.center</a:t>
            </a: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color</a:t>
            </a:r>
            <a:r>
              <a:rPr lang="pt-BR" sz="11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red</a:t>
            </a:r>
            <a:r>
              <a:rPr lang="pt-BR" sz="11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text-align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center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g2d4794a05a2_0_203"/>
          <p:cNvSpPr txBox="1"/>
          <p:nvPr/>
        </p:nvSpPr>
        <p:spPr>
          <a:xfrm>
            <a:off x="7669225" y="3686825"/>
            <a:ext cx="20331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color</a:t>
            </a:r>
            <a:r>
              <a:rPr lang="pt-BR" sz="11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red</a:t>
            </a:r>
            <a:r>
              <a:rPr lang="pt-BR" sz="11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center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93" name="Google Shape;293;g2d4794a05a2_0_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2d4794a05a2_0_22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UTILIZAÇÃO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295" name="Google Shape;295;g2d4794a05a2_0_222"/>
          <p:cNvSpPr txBox="1"/>
          <p:nvPr/>
        </p:nvSpPr>
        <p:spPr>
          <a:xfrm>
            <a:off x="153675" y="1336275"/>
            <a:ext cx="9790200" cy="3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Quando um navegador lê uma folha de estilo, ele formatará o documento HTML de acordo com as informações na folha de estilo.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Existem três maneiras de inserir uma folha de estilo:</a:t>
            </a:r>
            <a:endParaRPr sz="2000"/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CSS externo;</a:t>
            </a:r>
            <a:endParaRPr sz="2000"/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CSS interno;</a:t>
            </a:r>
            <a:endParaRPr sz="2000"/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CSS inline.</a:t>
            </a:r>
            <a:endParaRPr sz="2000"/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01" name="Google Shape;301;g2d4794a05a2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2d4794a05a2_0_235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EXTERNO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03" name="Google Shape;303;g2d4794a05a2_0_235"/>
          <p:cNvSpPr txBox="1"/>
          <p:nvPr/>
        </p:nvSpPr>
        <p:spPr>
          <a:xfrm>
            <a:off x="153675" y="1336275"/>
            <a:ext cx="9790200" cy="15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Com uma folha de estilo externa, você pode mudar a aparência de um site inteiro alterando apenas um arquivo.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Cada página HTML deve incluir uma referência ao arquivo de folha de estilo externo dentro do elemento &lt;link&gt;, dentro da seção head.</a:t>
            </a:r>
            <a:endParaRPr sz="1600"/>
          </a:p>
        </p:txBody>
      </p:sp>
      <p:sp>
        <p:nvSpPr>
          <p:cNvPr id="304" name="Google Shape;304;g2d4794a05a2_0_235"/>
          <p:cNvSpPr txBox="1"/>
          <p:nvPr/>
        </p:nvSpPr>
        <p:spPr>
          <a:xfrm>
            <a:off x="145225" y="2913375"/>
            <a:ext cx="89502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!DOCTYPE</a:t>
            </a:r>
            <a:r>
              <a:rPr lang="pt-BR" sz="11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html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pt-BR" sz="11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rel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="stylesheet"</a:t>
            </a:r>
            <a:r>
              <a:rPr lang="pt-BR" sz="11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href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="estilo.css"&gt;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/head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Parágrafo.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/p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/body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/html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10" name="Google Shape;310;g2d47c2cebfd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2d47c2cebfd_1_0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INTERNO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12" name="Google Shape;312;g2d47c2cebfd_1_0"/>
          <p:cNvSpPr txBox="1"/>
          <p:nvPr/>
        </p:nvSpPr>
        <p:spPr>
          <a:xfrm>
            <a:off x="153675" y="1336275"/>
            <a:ext cx="97902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Uma folha de estilo interna pode ser usada se uma única página HTML tiver um estilo único;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 estilo interno é definido dentro do elemento &lt;style&gt;, dentro da seção head.</a:t>
            </a:r>
            <a:endParaRPr sz="1600"/>
          </a:p>
        </p:txBody>
      </p:sp>
      <p:sp>
        <p:nvSpPr>
          <p:cNvPr id="313" name="Google Shape;313;g2d47c2cebfd_1_0"/>
          <p:cNvSpPr txBox="1"/>
          <p:nvPr/>
        </p:nvSpPr>
        <p:spPr>
          <a:xfrm>
            <a:off x="145225" y="2084775"/>
            <a:ext cx="8950200" cy="28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!DOCTYPE</a:t>
            </a:r>
            <a:r>
              <a:rPr lang="pt-BR" sz="11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html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h1 </a:t>
            </a:r>
            <a:r>
              <a:rPr lang="pt-BR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color</a:t>
            </a:r>
            <a:r>
              <a:rPr lang="pt-BR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maroon</a:t>
            </a:r>
            <a:r>
              <a:rPr lang="pt-BR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margin-left</a:t>
            </a:r>
            <a:r>
              <a:rPr lang="pt-BR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40px</a:t>
            </a:r>
            <a:r>
              <a:rPr lang="pt-BR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/style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/head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1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Parágrafo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/p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/body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/html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19" name="Google Shape;319;g2d47c2cebfd_1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2d47c2cebfd_1_14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INLINE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21" name="Google Shape;321;g2d47c2cebfd_1_14"/>
          <p:cNvSpPr txBox="1"/>
          <p:nvPr/>
        </p:nvSpPr>
        <p:spPr>
          <a:xfrm>
            <a:off x="153675" y="1336275"/>
            <a:ext cx="97902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 estilo inline pode ser usado para aplicar um estilo exclusivo para um único elemento;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Para usar estilos inline, adicione o atributo style ao elemento relevante. O atributo style pode conter qualquer propriedade CSS.</a:t>
            </a:r>
            <a:endParaRPr sz="1600"/>
          </a:p>
        </p:txBody>
      </p:sp>
      <p:sp>
        <p:nvSpPr>
          <p:cNvPr id="322" name="Google Shape;322;g2d47c2cebfd_1_14"/>
          <p:cNvSpPr txBox="1"/>
          <p:nvPr/>
        </p:nvSpPr>
        <p:spPr>
          <a:xfrm>
            <a:off x="145225" y="2538975"/>
            <a:ext cx="8950200" cy="24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!DOCTYPE</a:t>
            </a:r>
            <a:r>
              <a:rPr lang="pt-BR" sz="11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html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pt-BR" sz="11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style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="color:blue;text-align:center;"&gt;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Cabeçalho.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/h1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pt-BR" sz="11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style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="color:red;"&gt;</a:t>
            </a:r>
            <a:r>
              <a:rPr lang="pt-BR" sz="11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Parágrafo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/p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/body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15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/html</a:t>
            </a:r>
            <a:r>
              <a:rPr lang="pt-BR" sz="115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28" name="Google Shape;328;g2d47c2cebfd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2d47c2cebfd_1_28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PRIORIDADE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30" name="Google Shape;330;g2d47c2cebfd_1_28"/>
          <p:cNvSpPr txBox="1"/>
          <p:nvPr/>
        </p:nvSpPr>
        <p:spPr>
          <a:xfrm>
            <a:off x="153675" y="1336275"/>
            <a:ext cx="9790200" cy="29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Todos os estilos em uma página serão aplicados em cascata seguindo esta lista de prioridade:</a:t>
            </a:r>
            <a:endParaRPr sz="2000"/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Estilo inline (dentro de um elemento HTML);</a:t>
            </a:r>
            <a:endParaRPr sz="2000"/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Folhas de estilo externas e internas (na seção head);</a:t>
            </a:r>
            <a:endParaRPr sz="2000"/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Estilo </a:t>
            </a:r>
            <a:r>
              <a:rPr lang="pt-BR" sz="2000">
                <a:solidFill>
                  <a:schemeClr val="dk1"/>
                </a:solidFill>
              </a:rPr>
              <a:t>padrão do </a:t>
            </a:r>
            <a:r>
              <a:rPr lang="pt-BR" sz="2000"/>
              <a:t>n</a:t>
            </a:r>
            <a:r>
              <a:rPr lang="pt-BR" sz="2000"/>
              <a:t>avegado</a:t>
            </a:r>
            <a:r>
              <a:rPr lang="pt-BR" sz="2000"/>
              <a:t>r</a:t>
            </a:r>
            <a:r>
              <a:rPr lang="pt-BR" sz="2000"/>
              <a:t>.</a:t>
            </a:r>
            <a:endParaRPr sz="2000"/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36" name="Google Shape;336;g2d47c2cebfd_1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2d47c2cebfd_1_37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BACKGROUND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38" name="Google Shape;338;g2d47c2cebfd_1_37"/>
          <p:cNvSpPr txBox="1"/>
          <p:nvPr/>
        </p:nvSpPr>
        <p:spPr>
          <a:xfrm>
            <a:off x="153675" y="1090150"/>
            <a:ext cx="9790200" cy="28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As propriedades de background CSS são usadas para adicionar efeitos de fundo aos elementos;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 </a:t>
            </a:r>
            <a:r>
              <a:rPr lang="pt-BR" sz="1500">
                <a:solidFill>
                  <a:schemeClr val="dk1"/>
                </a:solidFill>
              </a:rPr>
              <a:t>propriedade </a:t>
            </a:r>
            <a:r>
              <a:rPr lang="pt-BR" sz="1500"/>
              <a:t>background-color </a:t>
            </a:r>
            <a:r>
              <a:rPr lang="pt-BR" sz="1500"/>
              <a:t>e</a:t>
            </a:r>
            <a:r>
              <a:rPr lang="pt-BR" sz="1500"/>
              <a:t>specifica a cor de fundo de um elemento.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 </a:t>
            </a:r>
            <a:r>
              <a:rPr lang="pt-BR" sz="1500">
                <a:solidFill>
                  <a:schemeClr val="dk1"/>
                </a:solidFill>
              </a:rPr>
              <a:t>propriedade </a:t>
            </a:r>
            <a:r>
              <a:rPr lang="pt-BR" sz="1500"/>
              <a:t>background-image especifica uma imagem a ser usada como plano de fundo de um elemento.</a:t>
            </a:r>
            <a:endParaRPr sz="1500"/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pt-BR" sz="1500"/>
              <a:t>Por padrão, a imagem é repetida para cobrir todo o elemento.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 propriedade background-repeat </a:t>
            </a:r>
            <a:r>
              <a:rPr lang="pt-BR" sz="1500">
                <a:solidFill>
                  <a:schemeClr val="dk1"/>
                </a:solidFill>
              </a:rPr>
              <a:t>define como </a:t>
            </a:r>
            <a:r>
              <a:rPr lang="pt-BR" sz="1500"/>
              <a:t>a imagem do fundo deverá ser repetida:</a:t>
            </a:r>
            <a:endParaRPr sz="1500"/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Repetida apenas na horizontal: repeat-x.</a:t>
            </a:r>
            <a:endParaRPr sz="1500"/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pt-BR" sz="1500">
                <a:solidFill>
                  <a:schemeClr val="dk1"/>
                </a:solidFill>
              </a:rPr>
              <a:t>Sem repetição</a:t>
            </a:r>
            <a:r>
              <a:rPr lang="pt-BR" sz="1500"/>
              <a:t>: no-repeat;</a:t>
            </a:r>
            <a:endParaRPr sz="1500"/>
          </a:p>
        </p:txBody>
      </p:sp>
      <p:sp>
        <p:nvSpPr>
          <p:cNvPr id="339" name="Google Shape;339;g2d47c2cebfd_1_37"/>
          <p:cNvSpPr txBox="1"/>
          <p:nvPr/>
        </p:nvSpPr>
        <p:spPr>
          <a:xfrm>
            <a:off x="145225" y="4042675"/>
            <a:ext cx="32568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body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background-color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lightblue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g2d47c2cebfd_1_37"/>
          <p:cNvSpPr txBox="1"/>
          <p:nvPr/>
        </p:nvSpPr>
        <p:spPr>
          <a:xfrm>
            <a:off x="3402025" y="4042700"/>
            <a:ext cx="39192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body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background-image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url("imagem.png")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background-repeat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no-repeat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46" name="Google Shape;346;g2d47c2cebfd_1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2d47c2cebfd_1_58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BORDA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48" name="Google Shape;348;g2d47c2cebfd_1_58"/>
          <p:cNvSpPr txBox="1"/>
          <p:nvPr/>
        </p:nvSpPr>
        <p:spPr>
          <a:xfrm>
            <a:off x="153675" y="1336275"/>
            <a:ext cx="9790200" cy="20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 </a:t>
            </a:r>
            <a:r>
              <a:rPr lang="pt-BR" sz="1600">
                <a:solidFill>
                  <a:schemeClr val="dk1"/>
                </a:solidFill>
              </a:rPr>
              <a:t>propriedade </a:t>
            </a:r>
            <a:r>
              <a:rPr lang="pt-BR" sz="1600"/>
              <a:t>border-style especifica que tipo de borda será exibida:</a:t>
            </a:r>
            <a:endParaRPr sz="1600"/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solid: define uma borda sólida;</a:t>
            </a:r>
            <a:endParaRPr sz="1600"/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none: não define nenhuma borda.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 </a:t>
            </a:r>
            <a:r>
              <a:rPr lang="pt-BR" sz="1600">
                <a:solidFill>
                  <a:schemeClr val="dk1"/>
                </a:solidFill>
              </a:rPr>
              <a:t>propriedade</a:t>
            </a:r>
            <a:r>
              <a:rPr lang="pt-BR" sz="1600"/>
              <a:t> border-width especifica a largura das quatro bordas;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 </a:t>
            </a:r>
            <a:r>
              <a:rPr lang="pt-BR" sz="1600">
                <a:solidFill>
                  <a:schemeClr val="dk1"/>
                </a:solidFill>
              </a:rPr>
              <a:t>propriedade </a:t>
            </a:r>
            <a:r>
              <a:rPr lang="pt-BR" sz="1600"/>
              <a:t>border-color é usada para definir a cor das quatro bordas.</a:t>
            </a:r>
            <a:endParaRPr sz="1600"/>
          </a:p>
        </p:txBody>
      </p:sp>
      <p:sp>
        <p:nvSpPr>
          <p:cNvPr id="349" name="Google Shape;349;g2d47c2cebfd_1_58"/>
          <p:cNvSpPr txBox="1"/>
          <p:nvPr/>
        </p:nvSpPr>
        <p:spPr>
          <a:xfrm>
            <a:off x="145225" y="3361275"/>
            <a:ext cx="9790200" cy="15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border-style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solid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border-width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border-color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red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55" name="Google Shape;355;g2d47c2cebfd_1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2d47c2cebfd_1_78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MARGENS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57" name="Google Shape;357;g2d47c2cebfd_1_78"/>
          <p:cNvSpPr txBox="1"/>
          <p:nvPr/>
        </p:nvSpPr>
        <p:spPr>
          <a:xfrm>
            <a:off x="153675" y="1336275"/>
            <a:ext cx="97902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Margens são usadas para criar espaço ao redor de elementos, fora de quaisquer bordas definidas.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Há propriedades para definir a margem para cada lado de um elemento (superior, direito, inferior e esquerdo).</a:t>
            </a:r>
            <a:endParaRPr sz="1600"/>
          </a:p>
        </p:txBody>
      </p:sp>
      <p:sp>
        <p:nvSpPr>
          <p:cNvPr id="358" name="Google Shape;358;g2d47c2cebfd_1_78"/>
          <p:cNvSpPr txBox="1"/>
          <p:nvPr/>
        </p:nvSpPr>
        <p:spPr>
          <a:xfrm>
            <a:off x="145225" y="2880975"/>
            <a:ext cx="97902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margin-top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100px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margin-bottom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100px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margin-right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150px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margin-left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80px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rgbClr val="FF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64" name="Google Shape;364;g2d47c2cebfd_1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2d47c2cebfd_1_91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PREENCHIMENTO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66" name="Google Shape;366;g2d47c2cebfd_1_91"/>
          <p:cNvSpPr txBox="1"/>
          <p:nvPr/>
        </p:nvSpPr>
        <p:spPr>
          <a:xfrm>
            <a:off x="153675" y="1336275"/>
            <a:ext cx="97902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 preenchimento é usado para criar espaço ao redor do conteúdo de um elemento, dentro de quaisquer bordas definidas.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Há propriedades para definir o preenchimento para cada lado de um elemento (topo, direita, base e esquerda).</a:t>
            </a:r>
            <a:endParaRPr sz="1600"/>
          </a:p>
        </p:txBody>
      </p:sp>
      <p:sp>
        <p:nvSpPr>
          <p:cNvPr id="367" name="Google Shape;367;g2d47c2cebfd_1_91"/>
          <p:cNvSpPr txBox="1"/>
          <p:nvPr/>
        </p:nvSpPr>
        <p:spPr>
          <a:xfrm>
            <a:off x="145225" y="2880975"/>
            <a:ext cx="97902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padding-top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padding-right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30px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padding-bottom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padding-left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80px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rgbClr val="FF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73" name="Google Shape;373;g2d47c2cebfd_1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2d47c2cebfd_1_103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ALTURA E LARGURA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75" name="Google Shape;375;g2d47c2cebfd_1_103"/>
          <p:cNvSpPr txBox="1"/>
          <p:nvPr/>
        </p:nvSpPr>
        <p:spPr>
          <a:xfrm>
            <a:off x="153675" y="1031475"/>
            <a:ext cx="9790200" cy="20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</a:t>
            </a:r>
            <a:r>
              <a:rPr lang="pt-BR">
                <a:solidFill>
                  <a:schemeClr val="dk1"/>
                </a:solidFill>
              </a:rPr>
              <a:t>s propriedades </a:t>
            </a:r>
            <a:r>
              <a:rPr lang="pt-BR"/>
              <a:t>height </a:t>
            </a:r>
            <a:r>
              <a:rPr lang="pt-BR"/>
              <a:t>e</a:t>
            </a:r>
            <a:r>
              <a:rPr lang="pt-BR"/>
              <a:t> width são usados ​​para definir a altura e largura de um elemento;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As propriedades height e width não incluem preenchimento, bordas ou margens. Elas definem a altura/largura da área dentro do preenchimento, borda e margem do elemento.</a:t>
            </a:r>
            <a:endParaRPr/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auto: o navegador calcula a altura e largura;</a:t>
            </a:r>
            <a:endParaRPr/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length: define a altura/largura em px, cm, etc;</a:t>
            </a:r>
            <a:endParaRPr/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%: define a altura/largura em porcentagem do bloco que o contém.</a:t>
            </a:r>
            <a:endParaRPr/>
          </a:p>
        </p:txBody>
      </p:sp>
      <p:sp>
        <p:nvSpPr>
          <p:cNvPr id="376" name="Google Shape;376;g2d47c2cebfd_1_103"/>
          <p:cNvSpPr txBox="1"/>
          <p:nvPr/>
        </p:nvSpPr>
        <p:spPr>
          <a:xfrm>
            <a:off x="145225" y="3081975"/>
            <a:ext cx="9790200" cy="18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height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200px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width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50%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background-color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red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82" name="Google Shape;382;g2d47c2cebfd_1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2d47c2cebfd_1_118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TEXTO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84" name="Google Shape;384;g2d47c2cebfd_1_118"/>
          <p:cNvSpPr txBox="1"/>
          <p:nvPr/>
        </p:nvSpPr>
        <p:spPr>
          <a:xfrm>
            <a:off x="153675" y="1305425"/>
            <a:ext cx="97902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CSS tem muitas propriedades para formatação de texto;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 </a:t>
            </a:r>
            <a:r>
              <a:rPr lang="pt-BR" sz="1600">
                <a:solidFill>
                  <a:schemeClr val="dk1"/>
                </a:solidFill>
              </a:rPr>
              <a:t>propriedade </a:t>
            </a:r>
            <a:r>
              <a:rPr lang="pt-BR" sz="1600"/>
              <a:t>color é usada para definir a cor do texto;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 </a:t>
            </a:r>
            <a:r>
              <a:rPr lang="pt-BR" sz="1600">
                <a:solidFill>
                  <a:schemeClr val="dk1"/>
                </a:solidFill>
              </a:rPr>
              <a:t>propriedade</a:t>
            </a:r>
            <a:r>
              <a:rPr lang="pt-BR" sz="1600"/>
              <a:t> text-align é usada para definir o alinhamento horizontal de um texto.</a:t>
            </a:r>
            <a:endParaRPr sz="1600"/>
          </a:p>
        </p:txBody>
      </p:sp>
      <p:sp>
        <p:nvSpPr>
          <p:cNvPr id="385" name="Google Shape;385;g2d47c2cebfd_1_118"/>
          <p:cNvSpPr txBox="1"/>
          <p:nvPr/>
        </p:nvSpPr>
        <p:spPr>
          <a:xfrm>
            <a:off x="145225" y="3081975"/>
            <a:ext cx="9790200" cy="18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h1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color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green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center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91" name="Google Shape;391;g2d47c2cebfd_1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2d47c2cebfd_1_133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CSS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FONTE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93" name="Google Shape;393;g2d47c2cebfd_1_133"/>
          <p:cNvSpPr txBox="1"/>
          <p:nvPr/>
        </p:nvSpPr>
        <p:spPr>
          <a:xfrm>
            <a:off x="153675" y="1042850"/>
            <a:ext cx="9790200" cy="24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escolha da fonte certa tem um grande impacto na experiência dos leitores em um site;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</a:t>
            </a:r>
            <a:r>
              <a:rPr lang="pt-BR">
                <a:solidFill>
                  <a:schemeClr val="dk1"/>
                </a:solidFill>
              </a:rPr>
              <a:t>propriedade</a:t>
            </a:r>
            <a:r>
              <a:rPr lang="pt-BR"/>
              <a:t> font-family é utilizada para especificar a fonte de um texto;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</a:t>
            </a:r>
            <a:r>
              <a:rPr lang="pt-BR">
                <a:solidFill>
                  <a:schemeClr val="dk1"/>
                </a:solidFill>
              </a:rPr>
              <a:t>propriedade</a:t>
            </a:r>
            <a:r>
              <a:rPr lang="pt-BR"/>
              <a:t> font-family deve conter vários nomes de fontes como um sistema "fallback", para garantir compatibilidade máxima entre navegadores/sistemas operacionais;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</a:t>
            </a:r>
            <a:r>
              <a:rPr lang="pt-BR">
                <a:solidFill>
                  <a:schemeClr val="dk1"/>
                </a:solidFill>
              </a:rPr>
              <a:t>propriedade </a:t>
            </a:r>
            <a:r>
              <a:rPr lang="pt-BR"/>
              <a:t>font-style é usada </a:t>
            </a:r>
            <a:r>
              <a:rPr lang="pt-BR"/>
              <a:t>principalmente </a:t>
            </a:r>
            <a:r>
              <a:rPr lang="pt-BR"/>
              <a:t>para especificar </a:t>
            </a:r>
            <a:r>
              <a:rPr lang="pt-BR"/>
              <a:t>texto em itálico</a:t>
            </a:r>
            <a:r>
              <a:rPr lang="pt-BR"/>
              <a:t>;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</a:t>
            </a:r>
            <a:r>
              <a:rPr lang="pt-BR">
                <a:solidFill>
                  <a:schemeClr val="dk1"/>
                </a:solidFill>
              </a:rPr>
              <a:t>propriedade </a:t>
            </a:r>
            <a:r>
              <a:rPr lang="pt-BR"/>
              <a:t>font-weight especifica o peso de uma fonte;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</a:t>
            </a:r>
            <a:r>
              <a:rPr lang="pt-BR">
                <a:solidFill>
                  <a:schemeClr val="dk1"/>
                </a:solidFill>
              </a:rPr>
              <a:t>propriedade </a:t>
            </a:r>
            <a:r>
              <a:rPr lang="pt-BR"/>
              <a:t>font-size define o tamanho do texto;</a:t>
            </a:r>
            <a:endParaRPr/>
          </a:p>
        </p:txBody>
      </p:sp>
      <p:sp>
        <p:nvSpPr>
          <p:cNvPr id="394" name="Google Shape;394;g2d47c2cebfd_1_133"/>
          <p:cNvSpPr txBox="1"/>
          <p:nvPr/>
        </p:nvSpPr>
        <p:spPr>
          <a:xfrm>
            <a:off x="145225" y="3479450"/>
            <a:ext cx="9790200" cy="1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.p1 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font-family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"Times New Roman", Times, serif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font-style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italic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font-weight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900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font-size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15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40px</a:t>
            </a: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00" name="Google Shape;400;g2d4794a05a2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2d4794a05a2_0_115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EXERCÍCIOS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2d4794a05a2_0_115"/>
          <p:cNvSpPr txBox="1"/>
          <p:nvPr/>
        </p:nvSpPr>
        <p:spPr>
          <a:xfrm>
            <a:off x="153675" y="1336275"/>
            <a:ext cx="97902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Exercícios 3 e 4</a:t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g_final.png" id="408" name="Google Shape;4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626" cy="56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0x010100AE27F99DF18A4341BE4054373105936F</vt:lpwstr>
  </property>
  <property fmtid="{D5CDD505-2E9C-101B-9397-08002B2CF9AE}" pid="3" name="Order">
    <vt:r8>1507300.0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