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670550" cx="10080625"/>
  <p:notesSz cx="7559675" cy="10691800"/>
  <p:embeddedFontLst>
    <p:embeddedFont>
      <p:font typeface="Roboto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jxFGhJb70FCbNPa0qF85Fr6/eG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14454D8-8981-4BE0-AC47-DB15C4BAE97A}">
  <a:tblStyle styleId="{314454D8-8981-4BE0-AC47-DB15C4BAE97A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italic.fntdata"/><Relationship Id="rId20" Type="http://schemas.openxmlformats.org/officeDocument/2006/relationships/slide" Target="slides/slide13.xml"/><Relationship Id="rId42" Type="http://customschemas.google.com/relationships/presentationmetadata" Target="metadata"/><Relationship Id="rId41" Type="http://schemas.openxmlformats.org/officeDocument/2006/relationships/font" Target="fonts/Roboto-bold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Roboto-bold.fntdata"/><Relationship Id="rId16" Type="http://schemas.openxmlformats.org/officeDocument/2006/relationships/slide" Target="slides/slide9.xml"/><Relationship Id="rId38" Type="http://schemas.openxmlformats.org/officeDocument/2006/relationships/font" Target="fonts/Roboto-regular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6487" y="812800"/>
            <a:ext cx="5343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312" y="0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312" y="10156825"/>
            <a:ext cx="3279775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1:notes"/>
          <p:cNvSpPr txBox="1"/>
          <p:nvPr>
            <p:ph idx="1" type="body"/>
          </p:nvPr>
        </p:nvSpPr>
        <p:spPr>
          <a:xfrm>
            <a:off x="755650" y="5078412"/>
            <a:ext cx="6046800" cy="48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:notes"/>
          <p:cNvSpPr txBox="1"/>
          <p:nvPr>
            <p:ph idx="12" type="sldNum"/>
          </p:nvPr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:notes"/>
          <p:cNvSpPr/>
          <p:nvPr>
            <p:ph idx="2" type="sldImg"/>
          </p:nvPr>
        </p:nvSpPr>
        <p:spPr>
          <a:xfrm>
            <a:off x="217488" y="812800"/>
            <a:ext cx="7123112" cy="400843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62" name="Google Shape;262;p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e920075534_0_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g1e920075534_0_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71" name="Google Shape;271;g1e920075534_0_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1e920075534_0_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g1e920075534_0_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83" name="Google Shape;283;g1e920075534_0_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e920075534_0_2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g1e920075534_0_2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92" name="Google Shape;292;g1e920075534_0_2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e920075534_0_2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g1e920075534_0_28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06" name="Google Shape;306;g1e920075534_0_28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d476c7c513_0_10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2d476c7c513_0_102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18" name="Google Shape;318;g2d476c7c513_0_10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1e920075534_0_3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g1e920075534_0_3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30" name="Google Shape;330;g1e920075534_0_3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d476c7c513_0_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2d476c7c513_0_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44" name="Google Shape;344;g2d476c7c513_0_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e920075534_0_4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g1e920075534_0_42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52" name="Google Shape;352;g1e920075534_0_4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e920075534_0_4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g1e920075534_0_4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63" name="Google Shape;363;g1e920075534_0_4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e920075534_0_5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g1e920075534_0_5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72" name="Google Shape;372;g1e920075534_0_5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1e920075534_0_6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g1e920075534_0_6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386" name="Google Shape;386;g1e920075534_0_6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1e920075534_0_7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g1e920075534_0_7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0" name="Google Shape;400;g1e920075534_0_7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1e920075534_0_7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1e920075534_0_7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09" name="Google Shape;409;g1e920075534_0_7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e920075534_0_8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g1e920075534_0_8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18" name="Google Shape;418;g1e920075534_0_8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1e920075534_0_91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g1e920075534_0_91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26" name="Google Shape;426;g1e920075534_0_91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e920075534_0_9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1e920075534_0_98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43" name="Google Shape;443;g1e920075534_0_98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e920075534_0_10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g1e920075534_0_10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53" name="Google Shape;453;g1e920075534_0_10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e920075534_0_112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g1e920075534_0_112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62" name="Google Shape;462;g1e920075534_0_112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d476c7c513_0_88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2d476c7c513_0_88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71" name="Google Shape;471;g2d476c7c513_0_88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1e920075534_0_119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1e920075534_0_119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79" name="Google Shape;479;g1e920075534_0_119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1e920075534_0_12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1e920075534_0_12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88" name="Google Shape;488;g1e920075534_0_12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e920075534_0_133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g1e920075534_0_133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496" name="Google Shape;496;g1e920075534_0_133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e920075534_0_140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1e920075534_0_140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06" name="Google Shape;506;g1e920075534_0_140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e920075534_0_147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g1e920075534_0_147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16" name="Google Shape;516;g1e920075534_0_147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e920075534_0_154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g1e920075534_0_154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26" name="Google Shape;526;g1e920075534_0_154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e9247a64d0_0_6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g1e9247a64d0_0_6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36" name="Google Shape;536;g1e9247a64d0_0_6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2d476c7c513_0_95:notes"/>
          <p:cNvSpPr txBox="1"/>
          <p:nvPr/>
        </p:nvSpPr>
        <p:spPr>
          <a:xfrm>
            <a:off x="4278312" y="10156825"/>
            <a:ext cx="32799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pt-BR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g2d476c7c513_0_95:notes"/>
          <p:cNvSpPr/>
          <p:nvPr>
            <p:ph idx="2" type="sldImg"/>
          </p:nvPr>
        </p:nvSpPr>
        <p:spPr>
          <a:xfrm>
            <a:off x="217488" y="812800"/>
            <a:ext cx="7123200" cy="4008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545" name="Google Shape;545;g2d476c7c513_0_95:notes"/>
          <p:cNvSpPr txBox="1"/>
          <p:nvPr>
            <p:ph idx="1" type="body"/>
          </p:nvPr>
        </p:nvSpPr>
        <p:spPr>
          <a:xfrm>
            <a:off x="755650" y="5078412"/>
            <a:ext cx="6048300" cy="481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2:notes"/>
          <p:cNvSpPr txBox="1"/>
          <p:nvPr>
            <p:ph idx="1" type="body"/>
          </p:nvPr>
        </p:nvSpPr>
        <p:spPr>
          <a:xfrm>
            <a:off x="755650" y="5078412"/>
            <a:ext cx="6046787" cy="4810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2" name="Google Shape;552;p22:notes"/>
          <p:cNvSpPr/>
          <p:nvPr>
            <p:ph idx="2" type="sldImg"/>
          </p:nvPr>
        </p:nvSpPr>
        <p:spPr>
          <a:xfrm>
            <a:off x="217488" y="812800"/>
            <a:ext cx="7121525" cy="40068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4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4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4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p4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" name="Google Shape;26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6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9" name="Google Shape;29;p4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p4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4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4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4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4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4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p4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p4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4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4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4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p4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p4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p4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4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4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4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4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p4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4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4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4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7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47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47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47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47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4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4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4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8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48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48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p4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p4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4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9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p49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p4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4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4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0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6" name="Google Shape;86;p50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5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5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5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6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6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9" name="Google Shape;99;p2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0" name="Google Shape;100;p2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1" name="Google Shape;101;p2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1"/>
          <p:cNvSpPr txBox="1"/>
          <p:nvPr>
            <p:ph type="title"/>
          </p:nvPr>
        </p:nvSpPr>
        <p:spPr>
          <a:xfrm>
            <a:off x="503238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5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5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6" name="Google Shape;106;p5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7" name="Google Shape;107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998177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2"/>
          <p:cNvSpPr txBox="1"/>
          <p:nvPr>
            <p:ph type="title"/>
          </p:nvPr>
        </p:nvSpPr>
        <p:spPr>
          <a:xfrm rot="5400000">
            <a:off x="6244575" y="1286675"/>
            <a:ext cx="4389300" cy="22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52"/>
          <p:cNvSpPr txBox="1"/>
          <p:nvPr>
            <p:ph idx="1" type="body"/>
          </p:nvPr>
        </p:nvSpPr>
        <p:spPr>
          <a:xfrm rot="5400000">
            <a:off x="1633574" y="-904975"/>
            <a:ext cx="4389300" cy="66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1" name="Google Shape;111;p52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2" name="Google Shape;112;p52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3" name="Google Shape;113;p52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6" name="Google Shape;116;p53"/>
          <p:cNvSpPr txBox="1"/>
          <p:nvPr>
            <p:ph idx="1" type="body"/>
          </p:nvPr>
        </p:nvSpPr>
        <p:spPr>
          <a:xfrm rot="5400000">
            <a:off x="3394124" y="-1563650"/>
            <a:ext cx="3287700" cy="90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7" name="Google Shape;117;p5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8" name="Google Shape;118;p5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9" name="Google Shape;119;p5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4"/>
          <p:cNvSpPr txBox="1"/>
          <p:nvPr>
            <p:ph type="title"/>
          </p:nvPr>
        </p:nvSpPr>
        <p:spPr>
          <a:xfrm>
            <a:off x="1976438" y="3968750"/>
            <a:ext cx="6048300" cy="469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2" name="Google Shape;122;p54"/>
          <p:cNvSpPr/>
          <p:nvPr>
            <p:ph idx="2" type="pic"/>
          </p:nvPr>
        </p:nvSpPr>
        <p:spPr>
          <a:xfrm>
            <a:off x="1976438" y="506413"/>
            <a:ext cx="6048300" cy="34020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54"/>
          <p:cNvSpPr txBox="1"/>
          <p:nvPr>
            <p:ph idx="1" type="body"/>
          </p:nvPr>
        </p:nvSpPr>
        <p:spPr>
          <a:xfrm>
            <a:off x="1976438" y="4438650"/>
            <a:ext cx="60483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4" name="Google Shape;124;p54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5" name="Google Shape;125;p54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6" name="Google Shape;126;p54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5"/>
          <p:cNvSpPr txBox="1"/>
          <p:nvPr>
            <p:ph type="title"/>
          </p:nvPr>
        </p:nvSpPr>
        <p:spPr>
          <a:xfrm>
            <a:off x="504825" y="225425"/>
            <a:ext cx="3316200" cy="96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9" name="Google Shape;129;p55"/>
          <p:cNvSpPr txBox="1"/>
          <p:nvPr>
            <p:ph idx="1" type="body"/>
          </p:nvPr>
        </p:nvSpPr>
        <p:spPr>
          <a:xfrm>
            <a:off x="3941763" y="225425"/>
            <a:ext cx="5635500" cy="48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0" name="Google Shape;130;p55"/>
          <p:cNvSpPr txBox="1"/>
          <p:nvPr>
            <p:ph idx="2" type="body"/>
          </p:nvPr>
        </p:nvSpPr>
        <p:spPr>
          <a:xfrm>
            <a:off x="504825" y="1185863"/>
            <a:ext cx="3316200" cy="38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1" name="Google Shape;131;p5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2" name="Google Shape;132;p5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3" name="Google Shape;133;p5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6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6" name="Google Shape;136;p56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56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7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0" name="Google Shape;140;p57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1" name="Google Shape;141;p57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2" name="Google Shape;142;p57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8"/>
          <p:cNvSpPr txBox="1"/>
          <p:nvPr>
            <p:ph type="title"/>
          </p:nvPr>
        </p:nvSpPr>
        <p:spPr>
          <a:xfrm>
            <a:off x="504825" y="227013"/>
            <a:ext cx="90726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5" name="Google Shape;145;p58"/>
          <p:cNvSpPr txBox="1"/>
          <p:nvPr>
            <p:ph idx="1" type="body"/>
          </p:nvPr>
        </p:nvSpPr>
        <p:spPr>
          <a:xfrm>
            <a:off x="504825" y="1270000"/>
            <a:ext cx="44529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6" name="Google Shape;146;p58"/>
          <p:cNvSpPr txBox="1"/>
          <p:nvPr>
            <p:ph idx="2" type="body"/>
          </p:nvPr>
        </p:nvSpPr>
        <p:spPr>
          <a:xfrm>
            <a:off x="504825" y="1798638"/>
            <a:ext cx="44529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7" name="Google Shape;147;p58"/>
          <p:cNvSpPr txBox="1"/>
          <p:nvPr>
            <p:ph idx="3" type="body"/>
          </p:nvPr>
        </p:nvSpPr>
        <p:spPr>
          <a:xfrm>
            <a:off x="5121275" y="1270000"/>
            <a:ext cx="4456200" cy="5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58"/>
          <p:cNvSpPr txBox="1"/>
          <p:nvPr>
            <p:ph idx="4" type="body"/>
          </p:nvPr>
        </p:nvSpPr>
        <p:spPr>
          <a:xfrm>
            <a:off x="5121275" y="1798638"/>
            <a:ext cx="4456200" cy="3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9" name="Google Shape;149;p58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0" name="Google Shape;150;p58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1" name="Google Shape;151;p58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9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4" name="Google Shape;154;p59"/>
          <p:cNvSpPr txBox="1"/>
          <p:nvPr>
            <p:ph idx="1" type="body"/>
          </p:nvPr>
        </p:nvSpPr>
        <p:spPr>
          <a:xfrm>
            <a:off x="503238" y="1327150"/>
            <a:ext cx="44577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5" name="Google Shape;155;p59"/>
          <p:cNvSpPr txBox="1"/>
          <p:nvPr>
            <p:ph idx="2" type="body"/>
          </p:nvPr>
        </p:nvSpPr>
        <p:spPr>
          <a:xfrm>
            <a:off x="5113338" y="1327150"/>
            <a:ext cx="44592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6" name="Google Shape;156;p59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7" name="Google Shape;157;p59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8" name="Google Shape;158;p59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0"/>
          <p:cNvSpPr txBox="1"/>
          <p:nvPr>
            <p:ph type="title"/>
          </p:nvPr>
        </p:nvSpPr>
        <p:spPr>
          <a:xfrm>
            <a:off x="796925" y="3643313"/>
            <a:ext cx="8567700" cy="11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60"/>
          <p:cNvSpPr txBox="1"/>
          <p:nvPr>
            <p:ph idx="1" type="body"/>
          </p:nvPr>
        </p:nvSpPr>
        <p:spPr>
          <a:xfrm>
            <a:off x="796925" y="2403475"/>
            <a:ext cx="8567700" cy="12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60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3" name="Google Shape;163;p60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60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1"/>
          <p:cNvSpPr txBox="1"/>
          <p:nvPr>
            <p:ph type="ctrTitle"/>
          </p:nvPr>
        </p:nvSpPr>
        <p:spPr>
          <a:xfrm>
            <a:off x="755650" y="1762125"/>
            <a:ext cx="8569200" cy="12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61"/>
          <p:cNvSpPr txBox="1"/>
          <p:nvPr>
            <p:ph idx="1" type="subTitle"/>
          </p:nvPr>
        </p:nvSpPr>
        <p:spPr>
          <a:xfrm>
            <a:off x="1512888" y="3213100"/>
            <a:ext cx="7056300" cy="14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8" name="Google Shape;168;p61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9" name="Google Shape;169;p61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0" name="Google Shape;170;p61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1" name="Google Shape;181;p2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squema Personalizado">
  <p:cSld name="Esquema Personalizado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"/>
          <p:cNvSpPr txBox="1"/>
          <p:nvPr>
            <p:ph type="title"/>
          </p:nvPr>
        </p:nvSpPr>
        <p:spPr>
          <a:xfrm>
            <a:off x="503238" y="225425"/>
            <a:ext cx="9069387" cy="944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87" name="Google Shape;187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3175"/>
            <a:ext cx="10080625" cy="56583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cto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0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e texto" type="vertTitleAndTx">
  <p:cSld name="VERTICAL_TITLE_AND_VERTICAL_TEXT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 rot="5400000">
            <a:off x="6244431" y="1286669"/>
            <a:ext cx="4389438" cy="2266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 rot="5400000">
            <a:off x="1633537" y="-904875"/>
            <a:ext cx="4389438" cy="66500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1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1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31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2" name="Google Shape;202;p32"/>
          <p:cNvSpPr txBox="1"/>
          <p:nvPr>
            <p:ph idx="1" type="body"/>
          </p:nvPr>
        </p:nvSpPr>
        <p:spPr>
          <a:xfrm rot="5400000">
            <a:off x="3394075" y="-1563687"/>
            <a:ext cx="3287712" cy="90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3" name="Google Shape;203;p32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4" name="Google Shape;204;p32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5" name="Google Shape;205;p32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3"/>
          <p:cNvSpPr txBox="1"/>
          <p:nvPr>
            <p:ph type="title"/>
          </p:nvPr>
        </p:nvSpPr>
        <p:spPr>
          <a:xfrm>
            <a:off x="1976438" y="3968750"/>
            <a:ext cx="6048375" cy="469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8" name="Google Shape;208;p33"/>
          <p:cNvSpPr/>
          <p:nvPr>
            <p:ph idx="2" type="pic"/>
          </p:nvPr>
        </p:nvSpPr>
        <p:spPr>
          <a:xfrm>
            <a:off x="1976438" y="506413"/>
            <a:ext cx="6048375" cy="3402012"/>
          </a:xfrm>
          <a:prstGeom prst="rect">
            <a:avLst/>
          </a:prstGeom>
          <a:noFill/>
          <a:ln>
            <a:noFill/>
          </a:ln>
        </p:spPr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1976438" y="4438650"/>
            <a:ext cx="6048375" cy="665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33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1" name="Google Shape;211;p33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2" name="Google Shape;212;p33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504825" y="225425"/>
            <a:ext cx="3316288" cy="9604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941763" y="225425"/>
            <a:ext cx="5635625" cy="4840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4"/>
          <p:cNvSpPr txBox="1"/>
          <p:nvPr>
            <p:ph idx="2" type="body"/>
          </p:nvPr>
        </p:nvSpPr>
        <p:spPr>
          <a:xfrm>
            <a:off x="504825" y="1185863"/>
            <a:ext cx="3316288" cy="38798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7" name="Google Shape;217;p34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8" name="Google Shape;218;p34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34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 título" type="titleOnly">
  <p:cSld name="TITLE_ONL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5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504825" y="227013"/>
            <a:ext cx="9072563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504825" y="1270000"/>
            <a:ext cx="4452938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8" name="Google Shape;228;p36"/>
          <p:cNvSpPr txBox="1"/>
          <p:nvPr>
            <p:ph idx="2" type="body"/>
          </p:nvPr>
        </p:nvSpPr>
        <p:spPr>
          <a:xfrm>
            <a:off x="504825" y="1798638"/>
            <a:ext cx="4452938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9" name="Google Shape;229;p36"/>
          <p:cNvSpPr txBox="1"/>
          <p:nvPr>
            <p:ph idx="3" type="body"/>
          </p:nvPr>
        </p:nvSpPr>
        <p:spPr>
          <a:xfrm>
            <a:off x="5121275" y="1270000"/>
            <a:ext cx="4456113" cy="5286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0" name="Google Shape;230;p36"/>
          <p:cNvSpPr txBox="1"/>
          <p:nvPr>
            <p:ph idx="4" type="body"/>
          </p:nvPr>
        </p:nvSpPr>
        <p:spPr>
          <a:xfrm>
            <a:off x="5121275" y="1798638"/>
            <a:ext cx="4456113" cy="3267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3" name="Google Shape;233;p36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Duplo" type="twoObj">
  <p:cSld name="TWO_OBJECTS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6" name="Google Shape;236;p37"/>
          <p:cNvSpPr txBox="1"/>
          <p:nvPr>
            <p:ph idx="1" type="body"/>
          </p:nvPr>
        </p:nvSpPr>
        <p:spPr>
          <a:xfrm>
            <a:off x="503238" y="1327150"/>
            <a:ext cx="4457700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7" name="Google Shape;237;p37"/>
          <p:cNvSpPr txBox="1"/>
          <p:nvPr>
            <p:ph idx="2" type="body"/>
          </p:nvPr>
        </p:nvSpPr>
        <p:spPr>
          <a:xfrm>
            <a:off x="5113338" y="1327150"/>
            <a:ext cx="4459287" cy="32877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8" name="Google Shape;238;p3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9" name="Google Shape;239;p3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0" name="Google Shape;240;p3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cção" type="secHead">
  <p:cSld name="SECTION_HEADER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8"/>
          <p:cNvSpPr txBox="1"/>
          <p:nvPr>
            <p:ph type="title"/>
          </p:nvPr>
        </p:nvSpPr>
        <p:spPr>
          <a:xfrm>
            <a:off x="796925" y="3643313"/>
            <a:ext cx="8567738" cy="1127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3" name="Google Shape;243;p38"/>
          <p:cNvSpPr txBox="1"/>
          <p:nvPr>
            <p:ph idx="1" type="body"/>
          </p:nvPr>
        </p:nvSpPr>
        <p:spPr>
          <a:xfrm>
            <a:off x="796925" y="2403475"/>
            <a:ext cx="8567738" cy="12398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indent="-228600" lvl="0" marL="45720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4" name="Google Shape;244;p38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5" name="Google Shape;245;p38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6" name="Google Shape;246;p38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o de título" type="title">
  <p:cSld name="TITLE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9"/>
          <p:cNvSpPr txBox="1"/>
          <p:nvPr>
            <p:ph type="ctrTitle"/>
          </p:nvPr>
        </p:nvSpPr>
        <p:spPr>
          <a:xfrm>
            <a:off x="755650" y="1762125"/>
            <a:ext cx="8569325" cy="121443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9" name="Google Shape;249;p39"/>
          <p:cNvSpPr txBox="1"/>
          <p:nvPr>
            <p:ph idx="1" type="subTitle"/>
          </p:nvPr>
        </p:nvSpPr>
        <p:spPr>
          <a:xfrm>
            <a:off x="1512888" y="3213100"/>
            <a:ext cx="7056437" cy="14493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Times New Roman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0" name="Google Shape;250;p39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1" name="Google Shape;251;p39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2" name="Google Shape;252;p39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4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3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5"/>
          <p:cNvSpPr txBox="1"/>
          <p:nvPr>
            <p:ph type="title"/>
          </p:nvPr>
        </p:nvSpPr>
        <p:spPr>
          <a:xfrm>
            <a:off x="503237" y="2254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2" name="Google Shape;92;p25"/>
          <p:cNvSpPr txBox="1"/>
          <p:nvPr>
            <p:ph idx="1" type="body"/>
          </p:nvPr>
        </p:nvSpPr>
        <p:spPr>
          <a:xfrm>
            <a:off x="503237" y="1327150"/>
            <a:ext cx="90693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25"/>
          <p:cNvSpPr txBox="1"/>
          <p:nvPr>
            <p:ph idx="10" type="dt"/>
          </p:nvPr>
        </p:nvSpPr>
        <p:spPr>
          <a:xfrm>
            <a:off x="50323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25"/>
          <p:cNvSpPr txBox="1"/>
          <p:nvPr>
            <p:ph idx="11" type="ftr"/>
          </p:nvPr>
        </p:nvSpPr>
        <p:spPr>
          <a:xfrm>
            <a:off x="3448050" y="5165725"/>
            <a:ext cx="31941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5" name="Google Shape;95;p25"/>
          <p:cNvSpPr txBox="1"/>
          <p:nvPr>
            <p:ph idx="12" type="sldNum"/>
          </p:nvPr>
        </p:nvSpPr>
        <p:spPr>
          <a:xfrm>
            <a:off x="7227887" y="5165725"/>
            <a:ext cx="2346300" cy="3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172" name="Google Shape;172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"/>
            <a:ext cx="10080625" cy="565989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7"/>
          <p:cNvSpPr txBox="1"/>
          <p:nvPr>
            <p:ph type="title"/>
          </p:nvPr>
        </p:nvSpPr>
        <p:spPr>
          <a:xfrm>
            <a:off x="503237" y="225425"/>
            <a:ext cx="9069387" cy="944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27"/>
          <p:cNvSpPr txBox="1"/>
          <p:nvPr>
            <p:ph idx="1" type="body"/>
          </p:nvPr>
        </p:nvSpPr>
        <p:spPr>
          <a:xfrm>
            <a:off x="503237" y="1327150"/>
            <a:ext cx="9069387" cy="328771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3000"/>
              </a:lnSpc>
              <a:spcBef>
                <a:spcPts val="10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3000"/>
              </a:lnSpc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3000"/>
              </a:lnSpc>
              <a:spcBef>
                <a:spcPts val="638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3000"/>
              </a:lnSpc>
              <a:spcBef>
                <a:spcPts val="425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93000"/>
              </a:lnSpc>
              <a:spcBef>
                <a:spcPts val="21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93000"/>
              </a:lnSpc>
              <a:spcBef>
                <a:spcPts val="213"/>
              </a:spcBef>
              <a:spcAft>
                <a:spcPts val="213"/>
              </a:spcAft>
              <a:buClr>
                <a:srgbClr val="000000"/>
              </a:buClr>
              <a:buSzPts val="1400"/>
              <a:buFont typeface="Arial"/>
              <a:buNone/>
              <a:defRPr b="0" i="0" sz="1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27"/>
          <p:cNvSpPr txBox="1"/>
          <p:nvPr>
            <p:ph idx="10" type="dt"/>
          </p:nvPr>
        </p:nvSpPr>
        <p:spPr>
          <a:xfrm>
            <a:off x="50323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7"/>
          <p:cNvSpPr txBox="1"/>
          <p:nvPr>
            <p:ph idx="11" type="ftr"/>
          </p:nvPr>
        </p:nvSpPr>
        <p:spPr>
          <a:xfrm>
            <a:off x="3448050" y="5165725"/>
            <a:ext cx="3194050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7227887" y="5165725"/>
            <a:ext cx="2346325" cy="388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"/>
          <p:cNvSpPr txBox="1"/>
          <p:nvPr/>
        </p:nvSpPr>
        <p:spPr>
          <a:xfrm>
            <a:off x="503237" y="3578225"/>
            <a:ext cx="9069300" cy="9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3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DQL - SELEÇÃO DE DADOS</a:t>
            </a:r>
            <a:endParaRPr b="0" i="0" sz="33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64" name="Google Shape;2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DEFINIÇÕES BÁSICAS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"/>
          <p:cNvSpPr txBox="1"/>
          <p:nvPr/>
        </p:nvSpPr>
        <p:spPr>
          <a:xfrm>
            <a:off x="153675" y="1336275"/>
            <a:ext cx="9790200" cy="16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marR="5080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 SELECT é utilizado para selecionar/consultar registros em um banco de dados.  Este comando obedece a seguinte sintaxe: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ATENTAR-SE PARA A IDENTAÇÃO DO SQL!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2"/>
          <p:cNvSpPr txBox="1"/>
          <p:nvPr/>
        </p:nvSpPr>
        <p:spPr>
          <a:xfrm>
            <a:off x="1532300" y="3198875"/>
            <a:ext cx="7562700" cy="1021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8575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NOMEDOSCHEMA.NOMEDATABELA;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73" name="Google Shape;273;g1e92007553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g1e920075534_0_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DEFINIÇÕES BÁSICAS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1e920075534_0_0"/>
          <p:cNvSpPr txBox="1"/>
          <p:nvPr/>
        </p:nvSpPr>
        <p:spPr>
          <a:xfrm>
            <a:off x="153675" y="1336275"/>
            <a:ext cx="97902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Exemplos de utilização do comando SELECT: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1e920075534_0_0"/>
          <p:cNvSpPr/>
          <p:nvPr/>
        </p:nvSpPr>
        <p:spPr>
          <a:xfrm>
            <a:off x="5300725" y="2395600"/>
            <a:ext cx="3762518" cy="1078421"/>
          </a:xfrm>
          <a:custGeom>
            <a:rect b="b" l="l" r="r" t="t"/>
            <a:pathLst>
              <a:path extrusionOk="0" h="1457325" w="3781425">
                <a:moveTo>
                  <a:pt x="0" y="1457325"/>
                </a:moveTo>
                <a:lnTo>
                  <a:pt x="3781425" y="1457325"/>
                </a:lnTo>
                <a:lnTo>
                  <a:pt x="3781425" y="0"/>
                </a:lnTo>
                <a:lnTo>
                  <a:pt x="0" y="0"/>
                </a:lnTo>
                <a:lnTo>
                  <a:pt x="0" y="145732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g1e920075534_0_0"/>
          <p:cNvSpPr txBox="1"/>
          <p:nvPr/>
        </p:nvSpPr>
        <p:spPr>
          <a:xfrm>
            <a:off x="5464925" y="2478350"/>
            <a:ext cx="3462900" cy="92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PRONOME,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    PROVALOR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5080" marR="0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TBPRODUTO;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8" name="Google Shape;278;g1e920075534_0_0"/>
          <p:cNvSpPr/>
          <p:nvPr/>
        </p:nvSpPr>
        <p:spPr>
          <a:xfrm>
            <a:off x="823900" y="2395600"/>
            <a:ext cx="3809905" cy="1078421"/>
          </a:xfrm>
          <a:custGeom>
            <a:rect b="b" l="l" r="r" t="t"/>
            <a:pathLst>
              <a:path extrusionOk="0" h="1457325" w="3790950">
                <a:moveTo>
                  <a:pt x="0" y="1457325"/>
                </a:moveTo>
                <a:lnTo>
                  <a:pt x="3790950" y="1457325"/>
                </a:lnTo>
                <a:lnTo>
                  <a:pt x="3790950" y="0"/>
                </a:lnTo>
                <a:lnTo>
                  <a:pt x="0" y="0"/>
                </a:lnTo>
                <a:lnTo>
                  <a:pt x="0" y="145732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1e920075534_0_0"/>
          <p:cNvSpPr txBox="1"/>
          <p:nvPr/>
        </p:nvSpPr>
        <p:spPr>
          <a:xfrm>
            <a:off x="914100" y="2602175"/>
            <a:ext cx="3634500" cy="677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1" lang="pt-BR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endParaRPr/>
          </a:p>
          <a:p>
            <a:pPr indent="0" lvl="0" marL="635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2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2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TBPRODUTO;</a:t>
            </a:r>
            <a:endParaRPr b="1" sz="22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85" name="Google Shape;285;g1e920075534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1e920075534_0_7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CLÁUSULA WHERE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g1e920075534_0_7"/>
          <p:cNvSpPr txBox="1"/>
          <p:nvPr/>
        </p:nvSpPr>
        <p:spPr>
          <a:xfrm>
            <a:off x="153675" y="1031475"/>
            <a:ext cx="9790200" cy="11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marR="5080" rtl="0" algn="just">
              <a:lnSpc>
                <a:spcPct val="100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Utilizada para filtrar registros, ou seja, somente serão retornados os registros que se  enquadrarem nos parâmetros informados.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just">
              <a:spcBef>
                <a:spcPts val="159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Na cláusula WHERE podem ser utilizados os operadores relacionais: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8" name="Google Shape;288;g1e920075534_0_7"/>
          <p:cNvGraphicFramePr/>
          <p:nvPr/>
        </p:nvGraphicFramePr>
        <p:xfrm>
          <a:off x="1415599" y="230579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{314454D8-8981-4BE0-AC47-DB15C4BAE97A}</a:tableStyleId>
              </a:tblPr>
              <a:tblGrid>
                <a:gridCol w="3618225"/>
                <a:gridCol w="3618225"/>
              </a:tblGrid>
              <a:tr h="365125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Operador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06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Descrição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1143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endParaRPr/>
                    </a:p>
                  </a:txBody>
                  <a:tcPr marT="88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159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Igual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&lt;&gt;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79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Diferente de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1143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</a:t>
                      </a:r>
                      <a:endParaRPr/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Maior que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1143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</a:t>
                      </a:r>
                      <a:endParaRPr/>
                    </a:p>
                  </a:txBody>
                  <a:tcPr marT="908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Menor que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75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&gt;=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79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Maior ou igual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150">
                <a:tc>
                  <a:txBody>
                    <a:bodyPr/>
                    <a:lstStyle/>
                    <a:p>
                      <a:pPr indent="0" lvl="0" marL="63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&lt;=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79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Menor ou igual a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1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294" name="Google Shape;294;g1e920075534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1e920075534_0_21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CLÁUSULA WHERE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g1e920075534_0_21"/>
          <p:cNvSpPr txBox="1"/>
          <p:nvPr/>
        </p:nvSpPr>
        <p:spPr>
          <a:xfrm>
            <a:off x="153675" y="1183875"/>
            <a:ext cx="97902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Exemplos de utilização do comando SELECT com a cláusula WHERE: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1e920075534_0_21"/>
          <p:cNvSpPr/>
          <p:nvPr/>
        </p:nvSpPr>
        <p:spPr>
          <a:xfrm>
            <a:off x="766762" y="1900173"/>
            <a:ext cx="3540443" cy="1132523"/>
          </a:xfrm>
          <a:custGeom>
            <a:rect b="b" l="l" r="r" t="t"/>
            <a:pathLst>
              <a:path extrusionOk="0" h="1562100" w="3371850">
                <a:moveTo>
                  <a:pt x="0" y="1562100"/>
                </a:moveTo>
                <a:lnTo>
                  <a:pt x="3371850" y="1562100"/>
                </a:lnTo>
                <a:lnTo>
                  <a:pt x="3371850" y="0"/>
                </a:lnTo>
                <a:lnTo>
                  <a:pt x="0" y="0"/>
                </a:lnTo>
                <a:lnTo>
                  <a:pt x="0" y="15621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1e920075534_0_21"/>
          <p:cNvSpPr/>
          <p:nvPr/>
        </p:nvSpPr>
        <p:spPr>
          <a:xfrm>
            <a:off x="5615050" y="1900175"/>
            <a:ext cx="3544443" cy="1170146"/>
          </a:xfrm>
          <a:custGeom>
            <a:rect b="b" l="l" r="r" t="t"/>
            <a:pathLst>
              <a:path extrusionOk="0" h="1714500" w="4219575">
                <a:moveTo>
                  <a:pt x="0" y="1714500"/>
                </a:moveTo>
                <a:lnTo>
                  <a:pt x="4219575" y="1714500"/>
                </a:lnTo>
                <a:lnTo>
                  <a:pt x="4219575" y="0"/>
                </a:lnTo>
                <a:lnTo>
                  <a:pt x="0" y="0"/>
                </a:lnTo>
                <a:lnTo>
                  <a:pt x="0" y="17145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g1e920075534_0_21"/>
          <p:cNvSpPr/>
          <p:nvPr/>
        </p:nvSpPr>
        <p:spPr>
          <a:xfrm>
            <a:off x="2909823" y="3671887"/>
            <a:ext cx="3696843" cy="1129498"/>
          </a:xfrm>
          <a:custGeom>
            <a:rect b="b" l="l" r="r" t="t"/>
            <a:pathLst>
              <a:path extrusionOk="0" h="1552575" w="4724400">
                <a:moveTo>
                  <a:pt x="0" y="1552575"/>
                </a:moveTo>
                <a:lnTo>
                  <a:pt x="4724400" y="1552575"/>
                </a:lnTo>
                <a:lnTo>
                  <a:pt x="4724400" y="0"/>
                </a:lnTo>
                <a:lnTo>
                  <a:pt x="0" y="0"/>
                </a:lnTo>
                <a:lnTo>
                  <a:pt x="0" y="155257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1e920075534_0_21"/>
          <p:cNvSpPr txBox="1"/>
          <p:nvPr/>
        </p:nvSpPr>
        <p:spPr>
          <a:xfrm>
            <a:off x="818370" y="1943035"/>
            <a:ext cx="358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TBPRODUTO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PROVALOR = 6.44;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g1e920075534_0_21"/>
          <p:cNvSpPr txBox="1"/>
          <p:nvPr/>
        </p:nvSpPr>
        <p:spPr>
          <a:xfrm>
            <a:off x="5613825" y="1980350"/>
            <a:ext cx="34347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TBPRODUTO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PROVALOR &gt; 9;</a:t>
            </a:r>
            <a:endParaRPr/>
          </a:p>
        </p:txBody>
      </p:sp>
      <p:sp>
        <p:nvSpPr>
          <p:cNvPr id="302" name="Google Shape;302;g1e920075534_0_21"/>
          <p:cNvSpPr txBox="1"/>
          <p:nvPr/>
        </p:nvSpPr>
        <p:spPr>
          <a:xfrm>
            <a:off x="2971767" y="3748897"/>
            <a:ext cx="3950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TBPRODUTO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PRONOME = 'Trigo';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08" name="Google Shape;308;g1e920075534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g1e920075534_0_28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OPERADOR IN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1e920075534_0_28"/>
          <p:cNvSpPr txBox="1"/>
          <p:nvPr/>
        </p:nvSpPr>
        <p:spPr>
          <a:xfrm>
            <a:off x="153675" y="1336275"/>
            <a:ext cx="97902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marR="508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Operador IN</a:t>
            </a:r>
            <a:r>
              <a:rPr lang="pt-BR" sz="1800">
                <a:solidFill>
                  <a:schemeClr val="dk1"/>
                </a:solidFill>
              </a:rPr>
              <a:t> (em)</a:t>
            </a:r>
            <a:r>
              <a:rPr lang="pt-BR" sz="1800">
                <a:solidFill>
                  <a:schemeClr val="dk1"/>
                </a:solidFill>
              </a:rPr>
              <a:t>: irá retornar somente os registros que se enquadrem em uma lista de valores para determinada coluna.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11" name="Google Shape;311;g1e920075534_0_28"/>
          <p:cNvGrpSpPr/>
          <p:nvPr/>
        </p:nvGrpSpPr>
        <p:grpSpPr>
          <a:xfrm>
            <a:off x="2605054" y="2536914"/>
            <a:ext cx="4959218" cy="1290133"/>
            <a:chOff x="2605024" y="2538349"/>
            <a:chExt cx="4876800" cy="1857375"/>
          </a:xfrm>
        </p:grpSpPr>
        <p:sp>
          <p:nvSpPr>
            <p:cNvPr id="312" name="Google Shape;312;g1e920075534_0_28"/>
            <p:cNvSpPr/>
            <p:nvPr/>
          </p:nvSpPr>
          <p:spPr>
            <a:xfrm>
              <a:off x="2605024" y="2538349"/>
              <a:ext cx="4876800" cy="1857375"/>
            </a:xfrm>
            <a:custGeom>
              <a:rect b="b" l="l" r="r" t="t"/>
              <a:pathLst>
                <a:path extrusionOk="0" h="1857375" w="4876800">
                  <a:moveTo>
                    <a:pt x="0" y="1857375"/>
                  </a:moveTo>
                  <a:lnTo>
                    <a:pt x="4876800" y="1857375"/>
                  </a:lnTo>
                  <a:lnTo>
                    <a:pt x="48768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g1e920075534_0_28"/>
            <p:cNvSpPr/>
            <p:nvPr/>
          </p:nvSpPr>
          <p:spPr>
            <a:xfrm>
              <a:off x="2688844" y="2776804"/>
              <a:ext cx="4610100" cy="1409700"/>
            </a:xfrm>
            <a:custGeom>
              <a:rect b="b" l="l" r="r" t="t"/>
              <a:pathLst>
                <a:path extrusionOk="0" h="1409700" w="4610100">
                  <a:moveTo>
                    <a:pt x="1114425" y="0"/>
                  </a:moveTo>
                  <a:lnTo>
                    <a:pt x="981075" y="0"/>
                  </a:lnTo>
                  <a:lnTo>
                    <a:pt x="0" y="0"/>
                  </a:lnTo>
                  <a:lnTo>
                    <a:pt x="0" y="304723"/>
                  </a:lnTo>
                  <a:lnTo>
                    <a:pt x="981075" y="304723"/>
                  </a:lnTo>
                  <a:lnTo>
                    <a:pt x="1114425" y="304723"/>
                  </a:lnTo>
                  <a:lnTo>
                    <a:pt x="1114425" y="0"/>
                  </a:lnTo>
                  <a:close/>
                </a:path>
                <a:path extrusionOk="0" h="1409700" w="4610100">
                  <a:moveTo>
                    <a:pt x="3629025" y="552323"/>
                  </a:moveTo>
                  <a:lnTo>
                    <a:pt x="981075" y="552323"/>
                  </a:lnTo>
                  <a:lnTo>
                    <a:pt x="285750" y="552323"/>
                  </a:lnTo>
                  <a:lnTo>
                    <a:pt x="0" y="552323"/>
                  </a:lnTo>
                  <a:lnTo>
                    <a:pt x="0" y="857046"/>
                  </a:lnTo>
                  <a:lnTo>
                    <a:pt x="285750" y="857046"/>
                  </a:lnTo>
                  <a:lnTo>
                    <a:pt x="981075" y="857046"/>
                  </a:lnTo>
                  <a:lnTo>
                    <a:pt x="3629025" y="857046"/>
                  </a:lnTo>
                  <a:lnTo>
                    <a:pt x="3629025" y="552323"/>
                  </a:lnTo>
                  <a:close/>
                </a:path>
                <a:path extrusionOk="0" h="1409700" w="4610100">
                  <a:moveTo>
                    <a:pt x="4610100" y="1104646"/>
                  </a:moveTo>
                  <a:lnTo>
                    <a:pt x="4610100" y="1104646"/>
                  </a:lnTo>
                  <a:lnTo>
                    <a:pt x="0" y="1104646"/>
                  </a:lnTo>
                  <a:lnTo>
                    <a:pt x="0" y="1409369"/>
                  </a:lnTo>
                  <a:lnTo>
                    <a:pt x="4610100" y="1409369"/>
                  </a:lnTo>
                  <a:lnTo>
                    <a:pt x="4610100" y="11046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4" name="Google Shape;314;g1e920075534_0_28"/>
          <p:cNvSpPr txBox="1"/>
          <p:nvPr/>
        </p:nvSpPr>
        <p:spPr>
          <a:xfrm>
            <a:off x="2678810" y="2741034"/>
            <a:ext cx="47493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TBCLIENTE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0" rtl="0" algn="l">
              <a:spcBef>
                <a:spcPts val="13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CLICODIGO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IN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1" lang="pt-BR" sz="2000">
                <a:latin typeface="Consolas"/>
                <a:ea typeface="Consolas"/>
                <a:cs typeface="Consolas"/>
                <a:sym typeface="Consolas"/>
              </a:rPr>
              <a:t>, 3,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5);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20" name="Google Shape;320;g2d476c7c513_0_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2d476c7c513_0_10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OPERADOR BETWEEN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2d476c7c513_0_102"/>
          <p:cNvSpPr txBox="1"/>
          <p:nvPr/>
        </p:nvSpPr>
        <p:spPr>
          <a:xfrm>
            <a:off x="153675" y="1336275"/>
            <a:ext cx="9790200" cy="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marR="508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</a:rPr>
              <a:t>Operador BETWEEN (entre): irá retornar somente os registros que se enquadrem no intervalo  informado para determinada coluna.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3" name="Google Shape;323;g2d476c7c513_0_102"/>
          <p:cNvGrpSpPr/>
          <p:nvPr/>
        </p:nvGrpSpPr>
        <p:grpSpPr>
          <a:xfrm>
            <a:off x="2605054" y="2536914"/>
            <a:ext cx="4959218" cy="1290133"/>
            <a:chOff x="2605024" y="2538349"/>
            <a:chExt cx="4876800" cy="1857375"/>
          </a:xfrm>
        </p:grpSpPr>
        <p:sp>
          <p:nvSpPr>
            <p:cNvPr id="324" name="Google Shape;324;g2d476c7c513_0_102"/>
            <p:cNvSpPr/>
            <p:nvPr/>
          </p:nvSpPr>
          <p:spPr>
            <a:xfrm>
              <a:off x="2605024" y="2538349"/>
              <a:ext cx="4876800" cy="1857375"/>
            </a:xfrm>
            <a:custGeom>
              <a:rect b="b" l="l" r="r" t="t"/>
              <a:pathLst>
                <a:path extrusionOk="0" h="1857375" w="4876800">
                  <a:moveTo>
                    <a:pt x="0" y="1857375"/>
                  </a:moveTo>
                  <a:lnTo>
                    <a:pt x="4876800" y="1857375"/>
                  </a:lnTo>
                  <a:lnTo>
                    <a:pt x="4876800" y="0"/>
                  </a:lnTo>
                  <a:lnTo>
                    <a:pt x="0" y="0"/>
                  </a:lnTo>
                  <a:lnTo>
                    <a:pt x="0" y="1857375"/>
                  </a:lnTo>
                  <a:close/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g2d476c7c513_0_102"/>
            <p:cNvSpPr/>
            <p:nvPr/>
          </p:nvSpPr>
          <p:spPr>
            <a:xfrm>
              <a:off x="2688844" y="2776804"/>
              <a:ext cx="4610100" cy="1409700"/>
            </a:xfrm>
            <a:custGeom>
              <a:rect b="b" l="l" r="r" t="t"/>
              <a:pathLst>
                <a:path extrusionOk="0" h="1409700" w="4610100">
                  <a:moveTo>
                    <a:pt x="1114425" y="0"/>
                  </a:moveTo>
                  <a:lnTo>
                    <a:pt x="981075" y="0"/>
                  </a:lnTo>
                  <a:lnTo>
                    <a:pt x="0" y="0"/>
                  </a:lnTo>
                  <a:lnTo>
                    <a:pt x="0" y="304723"/>
                  </a:lnTo>
                  <a:lnTo>
                    <a:pt x="981075" y="304723"/>
                  </a:lnTo>
                  <a:lnTo>
                    <a:pt x="1114425" y="304723"/>
                  </a:lnTo>
                  <a:lnTo>
                    <a:pt x="1114425" y="0"/>
                  </a:lnTo>
                  <a:close/>
                </a:path>
                <a:path extrusionOk="0" h="1409700" w="4610100">
                  <a:moveTo>
                    <a:pt x="3629025" y="552323"/>
                  </a:moveTo>
                  <a:lnTo>
                    <a:pt x="981075" y="552323"/>
                  </a:lnTo>
                  <a:lnTo>
                    <a:pt x="285750" y="552323"/>
                  </a:lnTo>
                  <a:lnTo>
                    <a:pt x="0" y="552323"/>
                  </a:lnTo>
                  <a:lnTo>
                    <a:pt x="0" y="857046"/>
                  </a:lnTo>
                  <a:lnTo>
                    <a:pt x="285750" y="857046"/>
                  </a:lnTo>
                  <a:lnTo>
                    <a:pt x="981075" y="857046"/>
                  </a:lnTo>
                  <a:lnTo>
                    <a:pt x="3629025" y="857046"/>
                  </a:lnTo>
                  <a:lnTo>
                    <a:pt x="3629025" y="552323"/>
                  </a:lnTo>
                  <a:close/>
                </a:path>
                <a:path extrusionOk="0" h="1409700" w="4610100">
                  <a:moveTo>
                    <a:pt x="4610100" y="1104646"/>
                  </a:moveTo>
                  <a:lnTo>
                    <a:pt x="4610100" y="1104646"/>
                  </a:lnTo>
                  <a:lnTo>
                    <a:pt x="0" y="1104646"/>
                  </a:lnTo>
                  <a:lnTo>
                    <a:pt x="0" y="1409369"/>
                  </a:lnTo>
                  <a:lnTo>
                    <a:pt x="4610100" y="1409369"/>
                  </a:lnTo>
                  <a:lnTo>
                    <a:pt x="4610100" y="110464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6" name="Google Shape;326;g2d476c7c513_0_102"/>
          <p:cNvSpPr txBox="1"/>
          <p:nvPr/>
        </p:nvSpPr>
        <p:spPr>
          <a:xfrm>
            <a:off x="2678810" y="2741034"/>
            <a:ext cx="4749300" cy="9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TBCLIENTE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marR="0" rtl="0" algn="l">
              <a:spcBef>
                <a:spcPts val="13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CLICODIGO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BETWEEN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AND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5;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32" name="Google Shape;332;g1e920075534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g1e920075534_0_35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OPERADOR LIKE E ILIKE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1e920075534_0_35"/>
          <p:cNvSpPr txBox="1"/>
          <p:nvPr/>
        </p:nvSpPr>
        <p:spPr>
          <a:xfrm>
            <a:off x="231140" y="1120584"/>
            <a:ext cx="94113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Operador LIKE (semelhante): irá retornar somente os registros sejam semelhantes ao  parâmetro informado, obedecendo o parâmetro foi informado como maiúsculo ou minúsculo.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g1e920075534_0_35"/>
          <p:cNvSpPr/>
          <p:nvPr/>
        </p:nvSpPr>
        <p:spPr>
          <a:xfrm>
            <a:off x="157162" y="2004948"/>
            <a:ext cx="4104323" cy="1351240"/>
          </a:xfrm>
          <a:custGeom>
            <a:rect b="b" l="l" r="r" t="t"/>
            <a:pathLst>
              <a:path extrusionOk="0" h="1857375" w="5295900">
                <a:moveTo>
                  <a:pt x="0" y="1857375"/>
                </a:moveTo>
                <a:lnTo>
                  <a:pt x="5295900" y="1857375"/>
                </a:lnTo>
                <a:lnTo>
                  <a:pt x="5295900" y="0"/>
                </a:lnTo>
                <a:lnTo>
                  <a:pt x="0" y="0"/>
                </a:lnTo>
                <a:lnTo>
                  <a:pt x="0" y="185737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1e920075534_0_35"/>
          <p:cNvSpPr/>
          <p:nvPr/>
        </p:nvSpPr>
        <p:spPr>
          <a:xfrm>
            <a:off x="5815076" y="2004948"/>
            <a:ext cx="3943350" cy="1857375"/>
          </a:xfrm>
          <a:custGeom>
            <a:rect b="b" l="l" r="r" t="t"/>
            <a:pathLst>
              <a:path extrusionOk="0" h="1857375" w="3943350">
                <a:moveTo>
                  <a:pt x="0" y="1857375"/>
                </a:moveTo>
                <a:lnTo>
                  <a:pt x="3943350" y="1857375"/>
                </a:lnTo>
                <a:lnTo>
                  <a:pt x="3943350" y="0"/>
                </a:lnTo>
                <a:lnTo>
                  <a:pt x="0" y="0"/>
                </a:lnTo>
                <a:lnTo>
                  <a:pt x="0" y="185737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g1e920075534_0_35"/>
          <p:cNvSpPr txBox="1"/>
          <p:nvPr/>
        </p:nvSpPr>
        <p:spPr>
          <a:xfrm>
            <a:off x="5906134" y="2320607"/>
            <a:ext cx="31941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Inicia com	</a:t>
            </a:r>
            <a:r>
              <a:rPr lang="pt-BR" sz="1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‘TEXTO%’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t/>
            </a:r>
            <a:endParaRPr sz="17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Termina com	</a:t>
            </a:r>
            <a:r>
              <a:rPr lang="pt-BR" sz="1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‘%TEXTO’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g1e920075534_0_35"/>
          <p:cNvSpPr txBox="1"/>
          <p:nvPr/>
        </p:nvSpPr>
        <p:spPr>
          <a:xfrm>
            <a:off x="5906134" y="3303523"/>
            <a:ext cx="3384000" cy="2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58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Possui o texto </a:t>
            </a:r>
            <a:r>
              <a:rPr lang="pt-BR" sz="15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 ‘%TEXTO%’</a:t>
            </a:r>
            <a:endParaRPr sz="155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g1e920075534_0_35"/>
          <p:cNvSpPr txBox="1"/>
          <p:nvPr/>
        </p:nvSpPr>
        <p:spPr>
          <a:xfrm>
            <a:off x="231140" y="4052315"/>
            <a:ext cx="93402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ILIKE possui as mesmas características do like, porém não é case-sensitive, ou seja, não  faz distinção entre maiúsculas e minúsculas, então ‘MARIA’ é igual ‘maria’ para o ILIKE.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g1e920075534_0_35"/>
          <p:cNvSpPr txBox="1"/>
          <p:nvPr/>
        </p:nvSpPr>
        <p:spPr>
          <a:xfrm>
            <a:off x="234421" y="2193601"/>
            <a:ext cx="4802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TBCLIENTE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CLINOME LIKE 'Edg%';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46" name="Google Shape;346;g2d476c7c51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g2d476c7c513_0_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EXERCÍCIOS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g2d476c7c513_0_0"/>
          <p:cNvSpPr txBox="1"/>
          <p:nvPr/>
        </p:nvSpPr>
        <p:spPr>
          <a:xfrm>
            <a:off x="153675" y="1336275"/>
            <a:ext cx="97902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Exercícios 1</a:t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54" name="Google Shape;354;g1e920075534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g1e920075534_0_4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BUSCANDO VALORES NULOS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g1e920075534_0_42"/>
          <p:cNvSpPr txBox="1"/>
          <p:nvPr/>
        </p:nvSpPr>
        <p:spPr>
          <a:xfrm>
            <a:off x="688351" y="1465250"/>
            <a:ext cx="40674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Para filtrar </a:t>
            </a: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valores em branco (nulos).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g1e920075534_0_42"/>
          <p:cNvSpPr/>
          <p:nvPr/>
        </p:nvSpPr>
        <p:spPr>
          <a:xfrm>
            <a:off x="5596000" y="2528825"/>
            <a:ext cx="4008358" cy="1228154"/>
          </a:xfrm>
          <a:custGeom>
            <a:rect b="b" l="l" r="r" t="t"/>
            <a:pathLst>
              <a:path extrusionOk="0" h="1600200" w="4429125">
                <a:moveTo>
                  <a:pt x="0" y="1600200"/>
                </a:moveTo>
                <a:lnTo>
                  <a:pt x="4429125" y="1600200"/>
                </a:lnTo>
                <a:lnTo>
                  <a:pt x="4429125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8" name="Google Shape;358;g1e920075534_0_42"/>
          <p:cNvGraphicFramePr/>
          <p:nvPr/>
        </p:nvGraphicFramePr>
        <p:xfrm>
          <a:off x="606063" y="23349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{314454D8-8981-4BE0-AC47-DB15C4BAE97A}</a:tableStyleId>
              </a:tblPr>
              <a:tblGrid>
                <a:gridCol w="1504325"/>
                <a:gridCol w="1441450"/>
                <a:gridCol w="1491625"/>
              </a:tblGrid>
              <a:tr h="395975">
                <a:tc gridSpan="3">
                  <a:txBody>
                    <a:bodyPr/>
                    <a:lstStyle/>
                    <a:p>
                      <a:pPr indent="0" lvl="0" marL="1206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tbfornecedor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395975">
                <a:tc>
                  <a:txBody>
                    <a:bodyPr/>
                    <a:lstStyle/>
                    <a:p>
                      <a:pPr indent="0" lvl="0" marL="0" marR="127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forcodigo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fornome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forramo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975">
                <a:tc>
                  <a:txBody>
                    <a:bodyPr/>
                    <a:lstStyle/>
                    <a:p>
                      <a:pPr indent="0" lvl="0" marL="1016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400"/>
                        <a:buFont typeface="Arial"/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800" u="none" cap="none" strike="noStrike"/>
                    </a:p>
                  </a:txBody>
                  <a:tcPr marT="88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Forn 1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975">
                <a:tc>
                  <a:txBody>
                    <a:bodyPr/>
                    <a:lstStyle/>
                    <a:p>
                      <a:pPr indent="0" lvl="0" marL="1016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Forn 2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97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90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Forn 3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Ramo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1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59" name="Google Shape;359;g1e920075534_0_42"/>
          <p:cNvSpPr txBox="1"/>
          <p:nvPr/>
        </p:nvSpPr>
        <p:spPr>
          <a:xfrm>
            <a:off x="5592129" y="2614062"/>
            <a:ext cx="395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TBFORNECEDOR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FORRAMO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IS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NULL;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65" name="Google Shape;365;g1e920075534_0_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1e920075534_0_49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OPERADORES LÓGICOS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g1e920075534_0_49"/>
          <p:cNvSpPr txBox="1"/>
          <p:nvPr/>
        </p:nvSpPr>
        <p:spPr>
          <a:xfrm>
            <a:off x="535940" y="1196784"/>
            <a:ext cx="89898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cláusula WHERE também podem ser utilizados os operadores lógicos a fim de que a  consulta ao banco de dados seja ainda mais específica.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8" name="Google Shape;368;g1e920075534_0_49"/>
          <p:cNvGraphicFramePr/>
          <p:nvPr/>
        </p:nvGraphicFramePr>
        <p:xfrm>
          <a:off x="1671758" y="2357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{314454D8-8981-4BE0-AC47-DB15C4BAE97A}</a:tableStyleId>
              </a:tblPr>
              <a:tblGrid>
                <a:gridCol w="3618225"/>
                <a:gridCol w="3618225"/>
              </a:tblGrid>
              <a:tr h="395975">
                <a:tc>
                  <a:txBody>
                    <a:bodyPr/>
                    <a:lstStyle/>
                    <a:p>
                      <a:pPr indent="0" lvl="0" marL="317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Operador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Descrição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AND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734059" lvl="0" marL="1059815" marR="321310" rtl="0" algn="l">
                        <a:lnSpc>
                          <a:spcPct val="1028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e </a:t>
                      </a: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(só irá buscar se todas as cláusulas  forem verdadeiras)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25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225">
                <a:tc>
                  <a:txBody>
                    <a:bodyPr/>
                    <a:lstStyle/>
                    <a:p>
                      <a:pPr indent="0" lvl="0" marL="952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95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57810" lvl="0" marL="668655" marR="405765" rtl="0" algn="l">
                        <a:lnSpc>
                          <a:spcPct val="10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ou </a:t>
                      </a: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(irá buscar se ao menos um das  cláusulas forem verdadeiras)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38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9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NOT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908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1039493" lvl="0" marL="1450340" marR="385445" rtl="0" algn="l">
                        <a:lnSpc>
                          <a:spcPct val="1028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não </a:t>
                      </a: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(o valor lógico da cláusula será  invertido)</a:t>
                      </a:r>
                      <a:endParaRPr/>
                    </a:p>
                  </a:txBody>
                  <a:tcPr marT="8445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74" name="Google Shape;374;g1e920075534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g1e920075534_0_56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OPERADORES LÓGICOS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1e920075534_0_56"/>
          <p:cNvSpPr/>
          <p:nvPr/>
        </p:nvSpPr>
        <p:spPr>
          <a:xfrm>
            <a:off x="3166237" y="3784015"/>
            <a:ext cx="885825" cy="228600"/>
          </a:xfrm>
          <a:custGeom>
            <a:rect b="b" l="l" r="r" t="t"/>
            <a:pathLst>
              <a:path extrusionOk="0" h="228600" w="885825">
                <a:moveTo>
                  <a:pt x="885825" y="0"/>
                </a:moveTo>
                <a:lnTo>
                  <a:pt x="781050" y="0"/>
                </a:lnTo>
                <a:lnTo>
                  <a:pt x="0" y="0"/>
                </a:lnTo>
                <a:lnTo>
                  <a:pt x="0" y="228549"/>
                </a:lnTo>
                <a:lnTo>
                  <a:pt x="781050" y="228549"/>
                </a:lnTo>
                <a:lnTo>
                  <a:pt x="885825" y="228549"/>
                </a:lnTo>
                <a:lnTo>
                  <a:pt x="88582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1e920075534_0_56"/>
          <p:cNvSpPr/>
          <p:nvPr/>
        </p:nvSpPr>
        <p:spPr>
          <a:xfrm>
            <a:off x="4981796" y="1341887"/>
            <a:ext cx="4584144" cy="1420178"/>
          </a:xfrm>
          <a:custGeom>
            <a:rect b="b" l="l" r="r" t="t"/>
            <a:pathLst>
              <a:path extrusionOk="0" h="1600200" w="4429125">
                <a:moveTo>
                  <a:pt x="0" y="1600200"/>
                </a:moveTo>
                <a:lnTo>
                  <a:pt x="4429125" y="1600200"/>
                </a:lnTo>
                <a:lnTo>
                  <a:pt x="4429125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g1e920075534_0_56"/>
          <p:cNvSpPr txBox="1"/>
          <p:nvPr/>
        </p:nvSpPr>
        <p:spPr>
          <a:xfrm>
            <a:off x="4986179" y="1443654"/>
            <a:ext cx="46863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TBFORNECEDOR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FORRAMO = 'Gás'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OR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FORRAMO = 'Fagundes Gás';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79" name="Google Shape;379;g1e920075534_0_56"/>
          <p:cNvSpPr/>
          <p:nvPr/>
        </p:nvSpPr>
        <p:spPr>
          <a:xfrm>
            <a:off x="762570" y="1337323"/>
            <a:ext cx="3997285" cy="1428179"/>
          </a:xfrm>
          <a:custGeom>
            <a:rect b="b" l="l" r="r" t="t"/>
            <a:pathLst>
              <a:path extrusionOk="0" h="1600200" w="4429125">
                <a:moveTo>
                  <a:pt x="0" y="1600200"/>
                </a:moveTo>
                <a:lnTo>
                  <a:pt x="4429125" y="1600200"/>
                </a:lnTo>
                <a:lnTo>
                  <a:pt x="4429125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g1e920075534_0_56"/>
          <p:cNvSpPr txBox="1"/>
          <p:nvPr/>
        </p:nvSpPr>
        <p:spPr>
          <a:xfrm>
            <a:off x="758698" y="1439094"/>
            <a:ext cx="42066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TBFORNECEDOR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FORRAMO = 'Gás'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 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OR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FORRAMO = 'Pet Shop';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g1e920075534_0_56"/>
          <p:cNvSpPr/>
          <p:nvPr/>
        </p:nvSpPr>
        <p:spPr>
          <a:xfrm>
            <a:off x="3304210" y="3217247"/>
            <a:ext cx="4152305" cy="1228154"/>
          </a:xfrm>
          <a:custGeom>
            <a:rect b="b" l="l" r="r" t="t"/>
            <a:pathLst>
              <a:path extrusionOk="0" h="1600200" w="4429125">
                <a:moveTo>
                  <a:pt x="0" y="1600200"/>
                </a:moveTo>
                <a:lnTo>
                  <a:pt x="4429125" y="1600200"/>
                </a:lnTo>
                <a:lnTo>
                  <a:pt x="4429125" y="0"/>
                </a:lnTo>
                <a:lnTo>
                  <a:pt x="0" y="0"/>
                </a:lnTo>
                <a:lnTo>
                  <a:pt x="0" y="16002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g1e920075534_0_56"/>
          <p:cNvSpPr txBox="1"/>
          <p:nvPr/>
        </p:nvSpPr>
        <p:spPr>
          <a:xfrm>
            <a:off x="3300338" y="3302486"/>
            <a:ext cx="395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 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1"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TBFORNECEDOR </a:t>
            </a:r>
            <a:endParaRPr b="1"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 </a:t>
            </a:r>
            <a:r>
              <a:rPr b="1" lang="pt-BR" sz="2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b="1"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NOT FORRAMO = 'Gás';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388" name="Google Shape;388;g1e920075534_0_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g1e920075534_0_6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ORDER BY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g1e920075534_0_63"/>
          <p:cNvSpPr txBox="1"/>
          <p:nvPr/>
        </p:nvSpPr>
        <p:spPr>
          <a:xfrm>
            <a:off x="840740" y="1160462"/>
            <a:ext cx="37737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Utilizada para ordenar os resultados.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1" name="Google Shape;391;g1e920075534_0_63"/>
          <p:cNvGraphicFramePr/>
          <p:nvPr/>
        </p:nvGraphicFramePr>
        <p:xfrm>
          <a:off x="1976558" y="16273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{314454D8-8981-4BE0-AC47-DB15C4BAE97A}</a:tableStyleId>
              </a:tblPr>
              <a:tblGrid>
                <a:gridCol w="3618225"/>
                <a:gridCol w="3618225"/>
              </a:tblGrid>
              <a:tr h="395975">
                <a:tc>
                  <a:txBody>
                    <a:bodyPr/>
                    <a:lstStyle/>
                    <a:p>
                      <a:pPr indent="0" lvl="0" marL="444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Ordenação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6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143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Descrição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762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975">
                <a:tc>
                  <a:txBody>
                    <a:bodyPr/>
                    <a:lstStyle/>
                    <a:p>
                      <a:pPr indent="0" lvl="0" marL="127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0795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Ascendente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275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59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DESC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2032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Decrescente</a:t>
                      </a:r>
                      <a:endParaRPr sz="14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88900" marB="0" marR="0" marL="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92" name="Google Shape;392;g1e920075534_0_63"/>
          <p:cNvSpPr txBox="1"/>
          <p:nvPr/>
        </p:nvSpPr>
        <p:spPr>
          <a:xfrm>
            <a:off x="840740" y="3004502"/>
            <a:ext cx="63939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ORDER BY deve estar localizado após o comando WHERE: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g1e920075534_0_63"/>
          <p:cNvSpPr/>
          <p:nvPr/>
        </p:nvSpPr>
        <p:spPr>
          <a:xfrm>
            <a:off x="3890898" y="3462337"/>
            <a:ext cx="3429000" cy="1400175"/>
          </a:xfrm>
          <a:custGeom>
            <a:rect b="b" l="l" r="r" t="t"/>
            <a:pathLst>
              <a:path extrusionOk="0" h="1400175" w="3429000">
                <a:moveTo>
                  <a:pt x="0" y="1400175"/>
                </a:moveTo>
                <a:lnTo>
                  <a:pt x="3429000" y="1400175"/>
                </a:lnTo>
                <a:lnTo>
                  <a:pt x="3429000" y="0"/>
                </a:lnTo>
                <a:lnTo>
                  <a:pt x="0" y="0"/>
                </a:lnTo>
                <a:lnTo>
                  <a:pt x="0" y="140017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g1e920075534_0_63"/>
          <p:cNvSpPr txBox="1"/>
          <p:nvPr/>
        </p:nvSpPr>
        <p:spPr>
          <a:xfrm>
            <a:off x="3976878" y="3548837"/>
            <a:ext cx="1139700" cy="30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175" marR="0" rtl="0" algn="l">
              <a:lnSpc>
                <a:spcPct val="116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95" name="Google Shape;395;g1e920075534_0_63"/>
          <p:cNvGraphicFramePr/>
          <p:nvPr/>
        </p:nvGraphicFramePr>
        <p:xfrm>
          <a:off x="3976878" y="38535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{314454D8-8981-4BE0-AC47-DB15C4BAE97A}</a:tableStyleId>
              </a:tblPr>
              <a:tblGrid>
                <a:gridCol w="916950"/>
                <a:gridCol w="1399550"/>
                <a:gridCol w="276225"/>
                <a:gridCol w="216525"/>
                <a:gridCol w="304175"/>
              </a:tblGrid>
              <a:tr h="304725">
                <a:tc gridSpan="5">
                  <a:txBody>
                    <a:bodyPr/>
                    <a:lstStyle/>
                    <a:p>
                      <a:pPr indent="0" lvl="0" marL="288925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>
                          <a:solidFill>
                            <a:srgbClr val="0000C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</a:t>
                      </a:r>
                      <a:r>
                        <a:rPr lang="pt-BR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TREINA</a:t>
                      </a:r>
                      <a:r>
                        <a:rPr lang="pt-BR" sz="20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.TBPESSOA</a:t>
                      </a:r>
                      <a:endParaRPr/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 hMerge="1"/>
                <a:tc hMerge="1"/>
                <a:tc hMerge="1"/>
                <a:tc hMerge="1"/>
              </a:tr>
              <a:tr h="304725">
                <a:tc>
                  <a:txBody>
                    <a:bodyPr/>
                    <a:lstStyle/>
                    <a:p>
                      <a:pPr indent="0" lvl="0" marL="14605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>
                          <a:solidFill>
                            <a:srgbClr val="0000C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WHERE</a:t>
                      </a:r>
                      <a:endParaRPr sz="20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7945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PESCODIGO</a:t>
                      </a:r>
                      <a:endParaRPr/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/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66675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2000" u="none" cap="none" strike="noStrike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/>
                    </a:p>
                  </a:txBody>
                  <a:tcPr marT="0" marB="0" marR="0" marL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20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396" name="Google Shape;396;g1e920075534_0_63"/>
          <p:cNvSpPr txBox="1"/>
          <p:nvPr/>
        </p:nvSpPr>
        <p:spPr>
          <a:xfrm>
            <a:off x="3976875" y="4462975"/>
            <a:ext cx="3257700" cy="307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46050" marR="0" rtl="0" algn="l">
              <a:lnSpc>
                <a:spcPct val="116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ORDER BY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PESNOME 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ASC</a:t>
            </a:r>
            <a:r>
              <a:rPr lang="pt-BR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02" name="Google Shape;402;g1e920075534_0_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g1e920075534_0_7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LIMIT E OFFSET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1e920075534_0_70"/>
          <p:cNvSpPr txBox="1"/>
          <p:nvPr/>
        </p:nvSpPr>
        <p:spPr>
          <a:xfrm>
            <a:off x="231140" y="1274762"/>
            <a:ext cx="9642600" cy="14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25400" rtl="0" algn="just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cláusula LIMIT é utilizada para definir a quantidade máxima de linhas que será retornada em  uma consulta.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5080" rtl="0" algn="just">
              <a:lnSpc>
                <a:spcPct val="116666"/>
              </a:lnSpc>
              <a:spcBef>
                <a:spcPts val="173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cláusula OFFSET é utilizada para especificar a partir de qual linha que o resultado passará a  ser mostrado.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1e920075534_0_70"/>
          <p:cNvSpPr txBox="1"/>
          <p:nvPr/>
        </p:nvSpPr>
        <p:spPr>
          <a:xfrm>
            <a:off x="3157473" y="3005137"/>
            <a:ext cx="3676800" cy="164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5875">
            <a:spAutoFit/>
          </a:bodyPr>
          <a:lstStyle/>
          <a:p>
            <a:pPr indent="0" lvl="0" marL="863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/>
          </a:p>
          <a:p>
            <a:pPr indent="123825" lvl="0" marL="210820" marR="826135" rtl="0" algn="l">
              <a:lnSpc>
                <a:spcPct val="114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PESSEXO = 1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LIMIT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/>
          </a:p>
          <a:p>
            <a:pPr indent="0" lvl="0" marL="8636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OFFSET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11" name="Google Shape;411;g1e920075534_0_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g1e920075534_0_77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DISTINCT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g1e920075534_0_77"/>
          <p:cNvSpPr txBox="1"/>
          <p:nvPr/>
        </p:nvSpPr>
        <p:spPr>
          <a:xfrm>
            <a:off x="459740" y="1427162"/>
            <a:ext cx="9058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cláusula DISTINCT é utilizada para retornar apenas registros distintos de uma seleção.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1e920075534_0_77"/>
          <p:cNvSpPr txBox="1"/>
          <p:nvPr/>
        </p:nvSpPr>
        <p:spPr>
          <a:xfrm>
            <a:off x="3328923" y="2633726"/>
            <a:ext cx="3990900" cy="1009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9017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DISTINCT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58214" marR="0" rtl="0" algn="l">
              <a:lnSpc>
                <a:spcPct val="100000"/>
              </a:lnSpc>
              <a:spcBef>
                <a:spcPts val="31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CTPDESCRICAO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3782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TREINA.TBPESSOACONTATO;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20" name="Google Shape;420;g1e920075534_0_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g1e920075534_0_84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FUNÇÕES AGREGADAS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g1e920075534_0_84"/>
          <p:cNvSpPr txBox="1"/>
          <p:nvPr/>
        </p:nvSpPr>
        <p:spPr>
          <a:xfrm>
            <a:off x="345440" y="1274762"/>
            <a:ext cx="9337800" cy="3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3535" lvl="0" marL="355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MIN(nome_da_coluna) - Retornará o registro com o menor valor da coluna informada.</a:t>
            </a:r>
            <a:endParaRPr/>
          </a:p>
          <a:p>
            <a:pPr indent="-343535" lvl="0" marL="355600" marR="0" rtl="0" algn="just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MAX(nome_da_coluna) - Retornará o registro com o maior valor da coluna informada.</a:t>
            </a:r>
            <a:endParaRPr/>
          </a:p>
          <a:p>
            <a:pPr indent="-343535" lvl="0" marL="355600" marR="0" rtl="0" algn="just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AVG(nome_da_coluna) - Retornará o valor médio da coluna informada como parâmetro.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645795" rtl="0" algn="just">
              <a:lnSpc>
                <a:spcPct val="100800"/>
              </a:lnSpc>
              <a:spcBef>
                <a:spcPts val="157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SUM(nome_da_coluna) - Retornará uma somatória de todos os valores da coluna  informada como parâmetro.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0" rtl="0" algn="just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COUNT(*) - Retornará a quantidade de registros atendidos na condição WHERE.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355600" marR="38100" rtl="0" algn="just">
              <a:lnSpc>
                <a:spcPct val="100800"/>
              </a:lnSpc>
              <a:spcBef>
                <a:spcPts val="15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COUNT(nome_da_coluna) - Retornará a quantidade de registros atendidos na condição  WHERE, porém não irá compor a contagem registros nulos.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28" name="Google Shape;428;g1e920075534_0_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g1e920075534_0_91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FUNÇÕES AGREGADAS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g1e920075534_0_91"/>
          <p:cNvSpPr/>
          <p:nvPr/>
        </p:nvSpPr>
        <p:spPr>
          <a:xfrm>
            <a:off x="641604" y="1373580"/>
            <a:ext cx="3629025" cy="609600"/>
          </a:xfrm>
          <a:custGeom>
            <a:rect b="b" l="l" r="r" t="t"/>
            <a:pathLst>
              <a:path extrusionOk="0" h="609600" w="3629025">
                <a:moveTo>
                  <a:pt x="3629025" y="0"/>
                </a:moveTo>
                <a:lnTo>
                  <a:pt x="981075" y="0"/>
                </a:lnTo>
                <a:lnTo>
                  <a:pt x="0" y="0"/>
                </a:lnTo>
                <a:lnTo>
                  <a:pt x="0" y="304673"/>
                </a:lnTo>
                <a:lnTo>
                  <a:pt x="0" y="609396"/>
                </a:lnTo>
                <a:lnTo>
                  <a:pt x="285750" y="609396"/>
                </a:lnTo>
                <a:lnTo>
                  <a:pt x="981075" y="609396"/>
                </a:lnTo>
                <a:lnTo>
                  <a:pt x="3076575" y="609396"/>
                </a:lnTo>
                <a:lnTo>
                  <a:pt x="3209925" y="609396"/>
                </a:lnTo>
                <a:lnTo>
                  <a:pt x="3209925" y="304723"/>
                </a:lnTo>
                <a:lnTo>
                  <a:pt x="3629025" y="304723"/>
                </a:lnTo>
                <a:lnTo>
                  <a:pt x="362902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g1e920075534_0_91"/>
          <p:cNvSpPr txBox="1"/>
          <p:nvPr/>
        </p:nvSpPr>
        <p:spPr>
          <a:xfrm>
            <a:off x="557212" y="1290574"/>
            <a:ext cx="3857700" cy="68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9200">
            <a:spAutoFit/>
          </a:bodyPr>
          <a:lstStyle/>
          <a:p>
            <a:pPr indent="-286385" lvl="0" marL="370840" marR="1289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MIN(IMVCOMPRIMENTO)  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TREINA.TBIMOVEL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g1e920075534_0_91"/>
          <p:cNvSpPr/>
          <p:nvPr/>
        </p:nvSpPr>
        <p:spPr>
          <a:xfrm>
            <a:off x="557212" y="2538348"/>
            <a:ext cx="3857625" cy="904875"/>
          </a:xfrm>
          <a:custGeom>
            <a:rect b="b" l="l" r="r" t="t"/>
            <a:pathLst>
              <a:path extrusionOk="0" h="904875" w="3857625">
                <a:moveTo>
                  <a:pt x="0" y="904875"/>
                </a:moveTo>
                <a:lnTo>
                  <a:pt x="3857625" y="904875"/>
                </a:lnTo>
                <a:lnTo>
                  <a:pt x="3857625" y="0"/>
                </a:lnTo>
                <a:lnTo>
                  <a:pt x="0" y="0"/>
                </a:lnTo>
                <a:lnTo>
                  <a:pt x="0" y="90487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1e920075534_0_91"/>
          <p:cNvSpPr txBox="1"/>
          <p:nvPr/>
        </p:nvSpPr>
        <p:spPr>
          <a:xfrm>
            <a:off x="641604" y="2624023"/>
            <a:ext cx="3235200" cy="66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635" marR="12065" rtl="0" algn="l">
              <a:lnSpc>
                <a:spcPct val="115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MAX(IMVLARGURA)</a:t>
            </a:r>
            <a:endParaRPr/>
          </a:p>
          <a:p>
            <a:pPr indent="0" lvl="0" marL="286385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TREINA.TBIMOVEL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g1e920075534_0_91"/>
          <p:cNvSpPr/>
          <p:nvPr/>
        </p:nvSpPr>
        <p:spPr>
          <a:xfrm>
            <a:off x="5371973" y="1373580"/>
            <a:ext cx="3629025" cy="609600"/>
          </a:xfrm>
          <a:custGeom>
            <a:rect b="b" l="l" r="r" t="t"/>
            <a:pathLst>
              <a:path extrusionOk="0" h="609600" w="3629025">
                <a:moveTo>
                  <a:pt x="3629025" y="0"/>
                </a:moveTo>
                <a:lnTo>
                  <a:pt x="981075" y="0"/>
                </a:lnTo>
                <a:lnTo>
                  <a:pt x="0" y="0"/>
                </a:lnTo>
                <a:lnTo>
                  <a:pt x="0" y="304673"/>
                </a:lnTo>
                <a:lnTo>
                  <a:pt x="0" y="609396"/>
                </a:lnTo>
                <a:lnTo>
                  <a:pt x="285750" y="609396"/>
                </a:lnTo>
                <a:lnTo>
                  <a:pt x="981075" y="609396"/>
                </a:lnTo>
                <a:lnTo>
                  <a:pt x="3076575" y="609396"/>
                </a:lnTo>
                <a:lnTo>
                  <a:pt x="3209925" y="609396"/>
                </a:lnTo>
                <a:lnTo>
                  <a:pt x="3209925" y="304723"/>
                </a:lnTo>
                <a:lnTo>
                  <a:pt x="3629025" y="304723"/>
                </a:lnTo>
                <a:lnTo>
                  <a:pt x="362902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1e920075534_0_91"/>
          <p:cNvSpPr txBox="1"/>
          <p:nvPr/>
        </p:nvSpPr>
        <p:spPr>
          <a:xfrm>
            <a:off x="5281676" y="1290574"/>
            <a:ext cx="4448100" cy="685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69200">
            <a:spAutoFit/>
          </a:bodyPr>
          <a:lstStyle/>
          <a:p>
            <a:pPr indent="-286385" lvl="0" marL="381000" marR="7099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AVG(IMVCOMPRIMENTO)  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TREINA.TBIMOVEL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6" name="Google Shape;436;g1e920075534_0_91"/>
          <p:cNvSpPr/>
          <p:nvPr/>
        </p:nvSpPr>
        <p:spPr>
          <a:xfrm>
            <a:off x="557212" y="3786187"/>
            <a:ext cx="3857625" cy="904875"/>
          </a:xfrm>
          <a:custGeom>
            <a:rect b="b" l="l" r="r" t="t"/>
            <a:pathLst>
              <a:path extrusionOk="0" h="904875" w="3857625">
                <a:moveTo>
                  <a:pt x="0" y="904875"/>
                </a:moveTo>
                <a:lnTo>
                  <a:pt x="3857625" y="904875"/>
                </a:lnTo>
                <a:lnTo>
                  <a:pt x="3857625" y="0"/>
                </a:lnTo>
                <a:lnTo>
                  <a:pt x="0" y="0"/>
                </a:lnTo>
                <a:lnTo>
                  <a:pt x="0" y="904875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1e920075534_0_91"/>
          <p:cNvSpPr txBox="1"/>
          <p:nvPr/>
        </p:nvSpPr>
        <p:spPr>
          <a:xfrm>
            <a:off x="641604" y="3874465"/>
            <a:ext cx="3235200" cy="678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6385" lvl="0" marL="286385" marR="0" rtl="0" algn="l">
              <a:lnSpc>
                <a:spcPct val="12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SUM(IMVLARGURA)  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TREINA.TBIMOVEL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8" name="Google Shape;438;g1e920075534_0_91"/>
          <p:cNvSpPr/>
          <p:nvPr/>
        </p:nvSpPr>
        <p:spPr>
          <a:xfrm>
            <a:off x="5371973" y="2624022"/>
            <a:ext cx="4191000" cy="609600"/>
          </a:xfrm>
          <a:custGeom>
            <a:rect b="b" l="l" r="r" t="t"/>
            <a:pathLst>
              <a:path extrusionOk="0" h="609600" w="4191000">
                <a:moveTo>
                  <a:pt x="4191000" y="304673"/>
                </a:moveTo>
                <a:lnTo>
                  <a:pt x="4057650" y="304673"/>
                </a:lnTo>
                <a:lnTo>
                  <a:pt x="2095500" y="304673"/>
                </a:lnTo>
                <a:lnTo>
                  <a:pt x="2095500" y="0"/>
                </a:lnTo>
                <a:lnTo>
                  <a:pt x="981075" y="0"/>
                </a:lnTo>
                <a:lnTo>
                  <a:pt x="0" y="0"/>
                </a:lnTo>
                <a:lnTo>
                  <a:pt x="0" y="304673"/>
                </a:lnTo>
                <a:lnTo>
                  <a:pt x="0" y="609396"/>
                </a:lnTo>
                <a:lnTo>
                  <a:pt x="285750" y="609396"/>
                </a:lnTo>
                <a:lnTo>
                  <a:pt x="981075" y="609396"/>
                </a:lnTo>
                <a:lnTo>
                  <a:pt x="4057650" y="609396"/>
                </a:lnTo>
                <a:lnTo>
                  <a:pt x="4191000" y="609396"/>
                </a:lnTo>
                <a:lnTo>
                  <a:pt x="4191000" y="30467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1e920075534_0_91"/>
          <p:cNvSpPr txBox="1"/>
          <p:nvPr/>
        </p:nvSpPr>
        <p:spPr>
          <a:xfrm>
            <a:off x="5281676" y="2538348"/>
            <a:ext cx="4448100" cy="691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74275">
            <a:spAutoFit/>
          </a:bodyPr>
          <a:lstStyle/>
          <a:p>
            <a:pPr indent="0" lvl="0" marL="95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COUNT(*)</a:t>
            </a:r>
            <a:endParaRPr/>
          </a:p>
          <a:p>
            <a:pPr indent="0" lvl="0" marL="38100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20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TREINA.TBPESSOACONTATO</a:t>
            </a:r>
            <a:r>
              <a:rPr lang="pt-BR" sz="20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45" name="Google Shape;445;g1e920075534_0_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g1e920075534_0_98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ALIAS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g1e920075534_0_98"/>
          <p:cNvSpPr txBox="1"/>
          <p:nvPr/>
        </p:nvSpPr>
        <p:spPr>
          <a:xfrm>
            <a:off x="231152" y="1122350"/>
            <a:ext cx="95655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O comando ALIAS é utilizado atribuir nomes temporários a tabelas ou colunas;</a:t>
            </a:r>
            <a:endParaRPr sz="1800"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A intenção de sua utilização é tornar a consulta mais legível;</a:t>
            </a:r>
            <a:endParaRPr sz="1800"/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 sz="1800"/>
              <a:t>São Temporárias: duram apenas durante a consulta.</a:t>
            </a:r>
            <a:endParaRPr sz="1800"/>
          </a:p>
        </p:txBody>
      </p:sp>
      <p:sp>
        <p:nvSpPr>
          <p:cNvPr id="448" name="Google Shape;448;g1e920075534_0_98"/>
          <p:cNvSpPr txBox="1"/>
          <p:nvPr/>
        </p:nvSpPr>
        <p:spPr>
          <a:xfrm>
            <a:off x="252400" y="2509825"/>
            <a:ext cx="5516100" cy="180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Apelido com espaços: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445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-915668" lvl="0" marL="1000125" marR="132715" rtl="0" algn="l">
              <a:lnSpc>
                <a:spcPct val="115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LOGCODIGO AS "CÓDIGO DO</a:t>
            </a:r>
            <a:r>
              <a:rPr lang="pt-BR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LOGRADOURO",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-915668" lvl="0" marL="1000125" marR="132715" rtl="0" algn="l">
              <a:lnSpc>
                <a:spcPct val="115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pt-BR" sz="17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LOGTIPO AS "TIPO DO LOGRADOURO"</a:t>
            </a:r>
            <a:endParaRPr sz="1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32740" marR="0" rtl="0" algn="l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TREINA.TBLOGRADOURO;</a:t>
            </a:r>
            <a:endParaRPr sz="1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9" name="Google Shape;449;g1e920075534_0_98"/>
          <p:cNvSpPr txBox="1"/>
          <p:nvPr/>
        </p:nvSpPr>
        <p:spPr>
          <a:xfrm>
            <a:off x="6095750" y="2509825"/>
            <a:ext cx="3655800" cy="18075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33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Apelido sem espaços:</a:t>
            </a:r>
            <a:endParaRPr b="1"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334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Consolas"/>
              <a:ea typeface="Consolas"/>
              <a:cs typeface="Consolas"/>
              <a:sym typeface="Consolas"/>
            </a:endParaRPr>
          </a:p>
          <a:p>
            <a:pPr indent="-915668" lvl="0" marL="1008380" marR="200660" rtl="0" algn="l">
              <a:lnSpc>
                <a:spcPct val="115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LOGCODIGO AS</a:t>
            </a:r>
            <a:r>
              <a:rPr lang="pt-BR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CODIGO,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-915668" lvl="0" marL="1008380" marR="200660" rtl="0" algn="l">
              <a:lnSpc>
                <a:spcPct val="115000"/>
              </a:lnSpc>
              <a:spcBef>
                <a:spcPts val="265"/>
              </a:spcBef>
              <a:spcAft>
                <a:spcPts val="0"/>
              </a:spcAft>
              <a:buNone/>
            </a:pPr>
            <a:r>
              <a:rPr lang="pt-BR" sz="17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LOGTIPO AS TIPO</a:t>
            </a:r>
            <a:endParaRPr sz="1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40995" marR="0" rtl="0" algn="l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TREINA.TBLOGRADOURO;</a:t>
            </a:r>
            <a:endParaRPr sz="1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55" name="Google Shape;455;g1e920075534_0_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g1e920075534_0_105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GROUP BY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1e920075534_0_105"/>
          <p:cNvSpPr txBox="1"/>
          <p:nvPr/>
        </p:nvSpPr>
        <p:spPr>
          <a:xfrm>
            <a:off x="307350" y="1274750"/>
            <a:ext cx="95610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444500" rtl="0" algn="just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cláusula GROUP BY é utilizada quando têm-se colunas de atributos combinadas com  funções agregadas no comando SELECT.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código abaixo vai agrupar o total de taxas por pessoa.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primeira coluna do resultado teremos o código da pessoa, e na segunda o total de taxas.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g1e920075534_0_105"/>
          <p:cNvSpPr txBox="1"/>
          <p:nvPr/>
        </p:nvSpPr>
        <p:spPr>
          <a:xfrm>
            <a:off x="1785875" y="3367075"/>
            <a:ext cx="6864600" cy="1238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700">
            <a:spAutoFit/>
          </a:bodyPr>
          <a:lstStyle/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PESCODIGO,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SUM(TAXVALOR) AS “TOTAL DE TAXAS”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123825" lvl="0" marL="212725" marR="406907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TREINA.TBTAXA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GROUP BY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PESCODIGO;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64" name="Google Shape;464;g1e920075534_0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g1e920075534_0_112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HAVING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g1e920075534_0_112"/>
          <p:cNvSpPr txBox="1"/>
          <p:nvPr/>
        </p:nvSpPr>
        <p:spPr>
          <a:xfrm>
            <a:off x="383540" y="1274762"/>
            <a:ext cx="9213900" cy="15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cláusula HAVING, filtra o retorno do GROUP BY.</a:t>
            </a:r>
            <a:endParaRPr/>
          </a:p>
          <a:p>
            <a:pPr indent="0" lvl="0" marL="12700" marR="0" rtl="0" algn="just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HAVING é utilizado pois o WHERE não pode ser usado com funções agregadas.</a:t>
            </a:r>
            <a:endParaRPr/>
          </a:p>
          <a:p>
            <a:pPr indent="0" lvl="0" marL="12700" marR="5080" rtl="0" algn="just">
              <a:lnSpc>
                <a:spcPct val="100800"/>
              </a:lnSpc>
              <a:spcBef>
                <a:spcPts val="158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código abaixo vai agrupar o total de taxas por pessoa, porém, só serão apresentados os  registros em que o total de taxas é maior que 100.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g1e920075534_0_112"/>
          <p:cNvSpPr txBox="1"/>
          <p:nvPr/>
        </p:nvSpPr>
        <p:spPr>
          <a:xfrm>
            <a:off x="2014475" y="3214675"/>
            <a:ext cx="5667000" cy="1530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5700">
            <a:noAutofit/>
          </a:bodyPr>
          <a:lstStyle/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PESCODIGO,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SUM(TAXVALOR) AS “TOTAL DE TAXAS”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REINA.TBTAXA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GROUP BY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PESCODIGO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88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HAVING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SUM(TAXVALOR) &gt; 100;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73" name="Google Shape;473;g2d476c7c513_0_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g2d476c7c513_0_88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EXERCÍCIOS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2d476c7c513_0_88"/>
          <p:cNvSpPr txBox="1"/>
          <p:nvPr/>
        </p:nvSpPr>
        <p:spPr>
          <a:xfrm>
            <a:off x="153675" y="1336275"/>
            <a:ext cx="97902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Exercícios 2 e 3</a:t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81" name="Google Shape;481;g1e920075534_0_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g1e920075534_0_119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SUBSELECT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1e920075534_0_119"/>
          <p:cNvSpPr txBox="1"/>
          <p:nvPr/>
        </p:nvSpPr>
        <p:spPr>
          <a:xfrm>
            <a:off x="307340" y="1274762"/>
            <a:ext cx="94539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just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subselect é utilizado para realizar consultas personalizadas, no exemplo abaixo a consulta  retorna informações da maior taxa cadastrada no banco.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1e920075534_0_119"/>
          <p:cNvSpPr txBox="1"/>
          <p:nvPr/>
        </p:nvSpPr>
        <p:spPr>
          <a:xfrm>
            <a:off x="2109725" y="2328850"/>
            <a:ext cx="6140100" cy="19509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0000">
            <a:spAutoFit/>
          </a:bodyPr>
          <a:lstStyle/>
          <a:p>
            <a:pPr indent="-247650" lvl="0" marL="339090" marR="2152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PESCODIGO,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247650" lvl="0" marL="339090" marR="2152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IMVCODIGO,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247650" lvl="0" marL="339090" marR="2152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   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TAXVALOR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247650" lvl="0" marL="339090" marR="2152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TREINA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.TBTAXA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247650" lvl="0" marL="339090" marR="2152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TAXVALOR = (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MAX(TAXVALOR)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247650" lvl="0" marL="339090" marR="2152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                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TREINA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.TBTAXA);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90" name="Google Shape;490;g1e920075534_0_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g1e920075534_0_126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JOIN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2" name="Google Shape;492;g1e920075534_0_126"/>
          <p:cNvSpPr txBox="1"/>
          <p:nvPr/>
        </p:nvSpPr>
        <p:spPr>
          <a:xfrm>
            <a:off x="231150" y="1274750"/>
            <a:ext cx="9576900" cy="25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just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comando JOIN é utilizado combinar duas ou mais tabelas, baseadas em uma coluna  relacionada entre elas.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just">
              <a:lnSpc>
                <a:spcPct val="100000"/>
              </a:lnSpc>
              <a:spcBef>
                <a:spcPts val="1614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 tipos de joins são: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69900" marR="0" rtl="0" algn="just">
              <a:lnSpc>
                <a:spcPct val="100000"/>
              </a:lnSpc>
              <a:spcBef>
                <a:spcPts val="159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INNER JOIN;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69900" marR="0" rtl="0" algn="just">
              <a:lnSpc>
                <a:spcPct val="118333"/>
              </a:lnSpc>
              <a:spcBef>
                <a:spcPts val="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LEFT JOIN;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69900" marR="0" rtl="0" algn="just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RIGHT JOIN;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3535" lvl="0" marL="469900" marR="0" rtl="0" algn="just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FULL OUTER JOIN.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498" name="Google Shape;498;g1e920075534_0_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1e920075534_0_133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INNER JOIN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g1e920075534_0_133"/>
          <p:cNvSpPr txBox="1"/>
          <p:nvPr/>
        </p:nvSpPr>
        <p:spPr>
          <a:xfrm>
            <a:off x="231140" y="1274762"/>
            <a:ext cx="9655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just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INNER JOIN retorna dados apenas quando as duas tabelas tem chaves correspondentes na  cláusula ON do JOIN.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g1e920075534_0_133"/>
          <p:cNvSpPr/>
          <p:nvPr/>
        </p:nvSpPr>
        <p:spPr>
          <a:xfrm>
            <a:off x="6915150" y="2533650"/>
            <a:ext cx="2924100" cy="1809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g1e920075534_0_133"/>
          <p:cNvSpPr txBox="1"/>
          <p:nvPr/>
        </p:nvSpPr>
        <p:spPr>
          <a:xfrm>
            <a:off x="357425" y="2457450"/>
            <a:ext cx="6303000" cy="1520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80000">
            <a:spAutoFit/>
          </a:bodyPr>
          <a:lstStyle/>
          <a:p>
            <a:pPr indent="-247650" lvl="0" marL="339090" marR="21526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</a:t>
            </a:r>
            <a:r>
              <a:rPr lang="pt-BR" sz="1700">
                <a:latin typeface="Consolas"/>
                <a:ea typeface="Consolas"/>
                <a:cs typeface="Consolas"/>
                <a:sym typeface="Consolas"/>
              </a:rPr>
              <a:t>*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-247650" lvl="0" marL="339090" marR="21526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TREINA.TBPESSOA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6096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INNER JOIN </a:t>
            </a:r>
            <a:r>
              <a:rPr lang="pt-BR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TREINA.TBLOGRADOURO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   ON </a:t>
            </a:r>
            <a:r>
              <a:rPr lang="pt-BR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TBPESSOA.LOGCODIGO = TBLOGRADOURO.LOGCODIGO;</a:t>
            </a:r>
            <a:endParaRPr sz="17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08" name="Google Shape;508;g1e920075534_0_1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g1e920075534_0_140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LEFT JOIN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g1e920075534_0_140"/>
          <p:cNvSpPr txBox="1"/>
          <p:nvPr/>
        </p:nvSpPr>
        <p:spPr>
          <a:xfrm>
            <a:off x="231140" y="1274762"/>
            <a:ext cx="9163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just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LEFT JOIN retorna a Tabela A inteira e apenas os registros que coincidirem com a  igualdade do JOIN na Tabela B (ou campos nulos para os campos sem correspondência).</a:t>
            </a:r>
            <a:endParaRPr sz="1800"/>
          </a:p>
        </p:txBody>
      </p:sp>
      <p:sp>
        <p:nvSpPr>
          <p:cNvPr id="511" name="Google Shape;511;g1e920075534_0_140"/>
          <p:cNvSpPr/>
          <p:nvPr/>
        </p:nvSpPr>
        <p:spPr>
          <a:xfrm>
            <a:off x="6991350" y="2381250"/>
            <a:ext cx="2924100" cy="1809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g1e920075534_0_140"/>
          <p:cNvSpPr txBox="1"/>
          <p:nvPr/>
        </p:nvSpPr>
        <p:spPr>
          <a:xfrm>
            <a:off x="214312" y="2462212"/>
            <a:ext cx="6629400" cy="14337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9017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37820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</a:t>
            </a:r>
            <a:endParaRPr sz="17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37820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LEFT JOIN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TREINA.TBPESSOACONTATO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37820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7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ON</a:t>
            </a:r>
            <a:r>
              <a:rPr lang="pt-BR" sz="17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TBPESSOA.PESCODIGO = TBPESSOACONTATO.PESCODIGO;</a:t>
            </a:r>
            <a:endParaRPr sz="17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18" name="Google Shape;518;g1e920075534_0_1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g1e920075534_0_147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RIGHT JOIN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g1e920075534_0_147"/>
          <p:cNvSpPr txBox="1"/>
          <p:nvPr/>
        </p:nvSpPr>
        <p:spPr>
          <a:xfrm>
            <a:off x="231140" y="1274762"/>
            <a:ext cx="91638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925">
            <a:spAutoFit/>
          </a:bodyPr>
          <a:lstStyle/>
          <a:p>
            <a:pPr indent="0" lvl="0" marL="12700" marR="5080" rtl="0" algn="just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RIGHT JOIN retorna a Tabela B inteira e apenas os registros que coincidirem com a  igualdade do JOIN na Tabela A (ou campos nulos para os campos sem correspondência).</a:t>
            </a:r>
            <a:endParaRPr sz="1800"/>
          </a:p>
        </p:txBody>
      </p:sp>
      <p:sp>
        <p:nvSpPr>
          <p:cNvPr id="521" name="Google Shape;521;g1e920075534_0_147"/>
          <p:cNvSpPr/>
          <p:nvPr/>
        </p:nvSpPr>
        <p:spPr>
          <a:xfrm>
            <a:off x="6915150" y="2381250"/>
            <a:ext cx="2924100" cy="1809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1e920075534_0_147"/>
          <p:cNvSpPr txBox="1"/>
          <p:nvPr/>
        </p:nvSpPr>
        <p:spPr>
          <a:xfrm>
            <a:off x="138112" y="2462212"/>
            <a:ext cx="6629400" cy="149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9017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37820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3995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RIGHT JOIN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TREINA.TBPESSOACONTATO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3995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ON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TBPESSOA.PESCODIGO = TBPESSOACONTATO.PESCODIGO;</a:t>
            </a:r>
            <a:endParaRPr/>
          </a:p>
        </p:txBody>
      </p:sp>
    </p:spTree>
  </p:cSld>
  <p:clrMapOvr>
    <a:masterClrMapping/>
  </p:clrMapOvr>
  <p:transition spd="med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28" name="Google Shape;528;g1e920075534_0_1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g1e920075534_0_154"/>
          <p:cNvSpPr txBox="1"/>
          <p:nvPr/>
        </p:nvSpPr>
        <p:spPr>
          <a:xfrm>
            <a:off x="231140" y="1292860"/>
            <a:ext cx="7165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FULL OUTER JOIN retorna todos os registros de ambas as tabelas.</a:t>
            </a:r>
            <a:endParaRPr/>
          </a:p>
        </p:txBody>
      </p:sp>
      <p:sp>
        <p:nvSpPr>
          <p:cNvPr id="530" name="Google Shape;530;g1e920075534_0_154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FULL OUTER JOIN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g1e920075534_0_154"/>
          <p:cNvSpPr txBox="1"/>
          <p:nvPr/>
        </p:nvSpPr>
        <p:spPr>
          <a:xfrm>
            <a:off x="138112" y="2462212"/>
            <a:ext cx="6629400" cy="1495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 *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337820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3995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FULL OUTER JOIN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TREINA.TBPESSOACONTATO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213995" marR="0" rtl="0" algn="l">
              <a:lnSpc>
                <a:spcPct val="100000"/>
              </a:lnSpc>
              <a:spcBef>
                <a:spcPts val="994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ON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TBPESSOA.PESCODIGO = TBPESSOACONTATO.PESCODIGO;</a:t>
            </a:r>
            <a:endParaRPr/>
          </a:p>
        </p:txBody>
      </p:sp>
      <p:sp>
        <p:nvSpPr>
          <p:cNvPr id="532" name="Google Shape;532;g1e920075534_0_154"/>
          <p:cNvSpPr/>
          <p:nvPr/>
        </p:nvSpPr>
        <p:spPr>
          <a:xfrm>
            <a:off x="6915150" y="2381250"/>
            <a:ext cx="2924100" cy="18096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38" name="Google Shape;538;g1e9247a64d0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g1e9247a64d0_0_6"/>
          <p:cNvSpPr txBox="1"/>
          <p:nvPr/>
        </p:nvSpPr>
        <p:spPr>
          <a:xfrm>
            <a:off x="231150" y="1292850"/>
            <a:ext cx="97068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pt-BR" sz="1800"/>
              <a:t>EXISTS é utilizado para testar a existência (ou não existência com o operador NOT) de um registro em um subselect.</a:t>
            </a:r>
            <a:endParaRPr sz="1800"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/>
              <a:t>Geralmente é necessário filtrar o registro do subselect com a tabela principal de fora.</a:t>
            </a:r>
            <a:endParaRPr sz="1800"/>
          </a:p>
        </p:txBody>
      </p:sp>
      <p:sp>
        <p:nvSpPr>
          <p:cNvPr id="540" name="Google Shape;540;g1e9247a64d0_0_6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r>
              <a:rPr lang="pt-BR" sz="2000">
                <a:solidFill>
                  <a:schemeClr val="lt1"/>
                </a:solidFill>
              </a:rPr>
              <a:t>SELEÇÃO DE DADOS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200">
                <a:solidFill>
                  <a:schemeClr val="lt1"/>
                </a:solidFill>
              </a:rPr>
              <a:t>EXISTS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g1e9247a64d0_0_6"/>
          <p:cNvSpPr txBox="1"/>
          <p:nvPr/>
        </p:nvSpPr>
        <p:spPr>
          <a:xfrm>
            <a:off x="138096" y="3224200"/>
            <a:ext cx="9112200" cy="1392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4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SELECT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WHERE EXISTS 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SELECT</a:t>
            </a:r>
            <a:r>
              <a:rPr lang="pt-BR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                  FROM</a:t>
            </a: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pt-BR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TREINA.TBPESSOACONTATO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None/>
            </a:pPr>
            <a:r>
              <a:rPr lang="pt-BR" sz="1800">
                <a:latin typeface="Consolas"/>
                <a:ea typeface="Consolas"/>
                <a:cs typeface="Consolas"/>
                <a:sym typeface="Consolas"/>
              </a:rPr>
              <a:t>                 </a:t>
            </a:r>
            <a:r>
              <a:rPr lang="pt-BR" sz="1800">
                <a:solidFill>
                  <a:srgbClr val="0000CD"/>
                </a:solidFill>
                <a:latin typeface="Consolas"/>
                <a:ea typeface="Consolas"/>
                <a:cs typeface="Consolas"/>
                <a:sym typeface="Consolas"/>
              </a:rPr>
              <a:t>WHERE </a:t>
            </a:r>
            <a:r>
              <a:rPr lang="pt-BR" sz="17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TBPESSOACONTATO.PESCODIGO = 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TBPESSOA.PESCODIGO</a:t>
            </a:r>
            <a:r>
              <a:rPr lang="pt-BR" sz="1700"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pt-BR" sz="17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g_interna.png" id="547" name="Google Shape;547;g2d476c7c513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95" y="1587"/>
            <a:ext cx="9983346" cy="5658307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g2d476c7c513_0_95"/>
          <p:cNvSpPr txBox="1"/>
          <p:nvPr/>
        </p:nvSpPr>
        <p:spPr>
          <a:xfrm>
            <a:off x="647700" y="252400"/>
            <a:ext cx="78924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62625">
            <a:noAutofit/>
          </a:bodyPr>
          <a:lstStyle/>
          <a:p>
            <a:pPr indent="0" lvl="0" marL="0" marR="0" rtl="0"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000">
                <a:solidFill>
                  <a:srgbClr val="FFFFFF"/>
                </a:solidFill>
              </a:rPr>
              <a:t>EXERCÍCIOS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g2d476c7c513_0_95"/>
          <p:cNvSpPr txBox="1"/>
          <p:nvPr/>
        </p:nvSpPr>
        <p:spPr>
          <a:xfrm>
            <a:off x="153675" y="1336275"/>
            <a:ext cx="9790200" cy="3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 de Exercícios 4</a:t>
            </a:r>
            <a:endParaRPr sz="3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2"/>
          <p:cNvSpPr/>
          <p:nvPr/>
        </p:nvSpPr>
        <p:spPr>
          <a:xfrm>
            <a:off x="0" y="0"/>
            <a:ext cx="10080625" cy="567055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g_final.png" id="555" name="Google Shape;5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0080626" cy="5670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ema do Office">
  <a:themeElements>
    <a:clrScheme name="Tema do Offic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0x010100AE27F99DF18A4341BE4054373105936F</vt:lpwstr>
  </property>
  <property fmtid="{D5CDD505-2E9C-101B-9397-08002B2CF9AE}" pid="3" name="Order">
    <vt:r8>1507300.0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SourceUrl">
    <vt:lpwstr/>
  </property>
  <property fmtid="{D5CDD505-2E9C-101B-9397-08002B2CF9AE}" pid="7" name="_SharedFileIndex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