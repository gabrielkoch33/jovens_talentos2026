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  <p:sldMasterId id="214748367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670550" cx="10080625"/>
  <p:notesSz cx="7559675" cy="106918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KI6SVEJUlbAspq9NaK+PRBZQp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500883-D969-47D4-BE85-CB3D66BAB0D4}">
  <a:tblStyle styleId="{32500883-D969-47D4-BE85-CB3D66BAB0D4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5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:notes"/>
          <p:cNvSpPr/>
          <p:nvPr>
            <p:ph idx="2" type="sldImg"/>
          </p:nvPr>
        </p:nvSpPr>
        <p:spPr>
          <a:xfrm>
            <a:off x="217488" y="812800"/>
            <a:ext cx="7121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1:notes"/>
          <p:cNvSpPr txBox="1"/>
          <p:nvPr>
            <p:ph idx="1" type="body"/>
          </p:nvPr>
        </p:nvSpPr>
        <p:spPr>
          <a:xfrm>
            <a:off x="755650" y="5078412"/>
            <a:ext cx="6046800" cy="4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:notes"/>
          <p:cNvSpPr txBox="1"/>
          <p:nvPr>
            <p:ph idx="12" type="sldNum"/>
          </p:nvPr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62" name="Google Shape;262;p2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8a138749c4_1_6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28a138749c4_1_6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70" name="Google Shape;270;g28a138749c4_1_6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8a138749c4_1_13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28a138749c4_1_13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79" name="Google Shape;279;g28a138749c4_1_13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8a138749c4_1_20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28a138749c4_1_20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87" name="Google Shape;287;g28a138749c4_1_20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8a138749c4_1_27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28a138749c4_1_27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96" name="Google Shape;296;g28a138749c4_1_27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8a138749c4_1_34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28a138749c4_1_34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04" name="Google Shape;304;g28a138749c4_1_34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8a138749c4_1_42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28a138749c4_1_42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18" name="Google Shape;318;g28a138749c4_1_42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8a138749c4_1_49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28a138749c4_1_49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26" name="Google Shape;326;g28a138749c4_1_49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8a138749c4_1_56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28a138749c4_1_56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39" name="Google Shape;339;g28a138749c4_1_56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8a138749c4_1_63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28a138749c4_1_63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47" name="Google Shape;347;g28a138749c4_1_63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8a138749c4_1_70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28a138749c4_1_70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55" name="Google Shape;355;g28a138749c4_1_70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2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22:notes"/>
          <p:cNvSpPr/>
          <p:nvPr>
            <p:ph idx="2" type="sldImg"/>
          </p:nvPr>
        </p:nvSpPr>
        <p:spPr>
          <a:xfrm>
            <a:off x="217488" y="812800"/>
            <a:ext cx="7121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4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503238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4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4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" name="Google Shape;2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0080626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 txBox="1"/>
          <p:nvPr>
            <p:ph type="title"/>
          </p:nvPr>
        </p:nvSpPr>
        <p:spPr>
          <a:xfrm rot="5400000">
            <a:off x="6244575" y="1286675"/>
            <a:ext cx="43893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42"/>
          <p:cNvSpPr txBox="1"/>
          <p:nvPr>
            <p:ph idx="1" type="body"/>
          </p:nvPr>
        </p:nvSpPr>
        <p:spPr>
          <a:xfrm rot="5400000">
            <a:off x="1633574" y="-904975"/>
            <a:ext cx="4389300" cy="6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42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42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42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43"/>
          <p:cNvSpPr txBox="1"/>
          <p:nvPr>
            <p:ph idx="1" type="body"/>
          </p:nvPr>
        </p:nvSpPr>
        <p:spPr>
          <a:xfrm rot="5400000">
            <a:off x="3394124" y="-1563650"/>
            <a:ext cx="3287700" cy="9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4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4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4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4"/>
          <p:cNvSpPr txBox="1"/>
          <p:nvPr>
            <p:ph type="title"/>
          </p:nvPr>
        </p:nvSpPr>
        <p:spPr>
          <a:xfrm>
            <a:off x="1976438" y="3968750"/>
            <a:ext cx="6048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44"/>
          <p:cNvSpPr/>
          <p:nvPr>
            <p:ph idx="2" type="pic"/>
          </p:nvPr>
        </p:nvSpPr>
        <p:spPr>
          <a:xfrm>
            <a:off x="1976438" y="506413"/>
            <a:ext cx="6048300" cy="34020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44"/>
          <p:cNvSpPr txBox="1"/>
          <p:nvPr>
            <p:ph idx="1" type="body"/>
          </p:nvPr>
        </p:nvSpPr>
        <p:spPr>
          <a:xfrm>
            <a:off x="1976438" y="4438650"/>
            <a:ext cx="6048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4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4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4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5"/>
          <p:cNvSpPr txBox="1"/>
          <p:nvPr>
            <p:ph type="title"/>
          </p:nvPr>
        </p:nvSpPr>
        <p:spPr>
          <a:xfrm>
            <a:off x="504825" y="225425"/>
            <a:ext cx="33162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45"/>
          <p:cNvSpPr txBox="1"/>
          <p:nvPr>
            <p:ph idx="1" type="body"/>
          </p:nvPr>
        </p:nvSpPr>
        <p:spPr>
          <a:xfrm>
            <a:off x="3941763" y="225425"/>
            <a:ext cx="56355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45"/>
          <p:cNvSpPr txBox="1"/>
          <p:nvPr>
            <p:ph idx="2" type="body"/>
          </p:nvPr>
        </p:nvSpPr>
        <p:spPr>
          <a:xfrm>
            <a:off x="504825" y="1185863"/>
            <a:ext cx="3316200" cy="3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4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4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4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6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4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4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4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7"/>
          <p:cNvSpPr txBox="1"/>
          <p:nvPr>
            <p:ph type="title"/>
          </p:nvPr>
        </p:nvSpPr>
        <p:spPr>
          <a:xfrm>
            <a:off x="504825" y="227013"/>
            <a:ext cx="9072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47"/>
          <p:cNvSpPr txBox="1"/>
          <p:nvPr>
            <p:ph idx="1" type="body"/>
          </p:nvPr>
        </p:nvSpPr>
        <p:spPr>
          <a:xfrm>
            <a:off x="504825" y="1270000"/>
            <a:ext cx="4452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47"/>
          <p:cNvSpPr txBox="1"/>
          <p:nvPr>
            <p:ph idx="2" type="body"/>
          </p:nvPr>
        </p:nvSpPr>
        <p:spPr>
          <a:xfrm>
            <a:off x="504825" y="1798638"/>
            <a:ext cx="44529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47"/>
          <p:cNvSpPr txBox="1"/>
          <p:nvPr>
            <p:ph idx="3" type="body"/>
          </p:nvPr>
        </p:nvSpPr>
        <p:spPr>
          <a:xfrm>
            <a:off x="5121275" y="1270000"/>
            <a:ext cx="445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47"/>
          <p:cNvSpPr txBox="1"/>
          <p:nvPr>
            <p:ph idx="4" type="body"/>
          </p:nvPr>
        </p:nvSpPr>
        <p:spPr>
          <a:xfrm>
            <a:off x="5121275" y="1798638"/>
            <a:ext cx="44562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47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47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47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8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48"/>
          <p:cNvSpPr txBox="1"/>
          <p:nvPr>
            <p:ph idx="1" type="body"/>
          </p:nvPr>
        </p:nvSpPr>
        <p:spPr>
          <a:xfrm>
            <a:off x="503238" y="1327150"/>
            <a:ext cx="44577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48"/>
          <p:cNvSpPr txBox="1"/>
          <p:nvPr>
            <p:ph idx="2" type="body"/>
          </p:nvPr>
        </p:nvSpPr>
        <p:spPr>
          <a:xfrm>
            <a:off x="5113338" y="1327150"/>
            <a:ext cx="44592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48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48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48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9"/>
          <p:cNvSpPr txBox="1"/>
          <p:nvPr>
            <p:ph type="title"/>
          </p:nvPr>
        </p:nvSpPr>
        <p:spPr>
          <a:xfrm>
            <a:off x="796925" y="3643313"/>
            <a:ext cx="85677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49"/>
          <p:cNvSpPr txBox="1"/>
          <p:nvPr>
            <p:ph idx="1" type="body"/>
          </p:nvPr>
        </p:nvSpPr>
        <p:spPr>
          <a:xfrm>
            <a:off x="796925" y="2403475"/>
            <a:ext cx="85677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49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49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49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0"/>
          <p:cNvSpPr txBox="1"/>
          <p:nvPr>
            <p:ph type="ctrTitle"/>
          </p:nvPr>
        </p:nvSpPr>
        <p:spPr>
          <a:xfrm>
            <a:off x="755650" y="1762125"/>
            <a:ext cx="85692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50"/>
          <p:cNvSpPr txBox="1"/>
          <p:nvPr>
            <p:ph idx="1" type="subTitle"/>
          </p:nvPr>
        </p:nvSpPr>
        <p:spPr>
          <a:xfrm>
            <a:off x="1512888" y="3213100"/>
            <a:ext cx="70563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5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5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5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6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2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2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2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1"/>
          <p:cNvSpPr txBox="1"/>
          <p:nvPr>
            <p:ph type="title"/>
          </p:nvPr>
        </p:nvSpPr>
        <p:spPr>
          <a:xfrm>
            <a:off x="503238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5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5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5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7" name="Google Shape;107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9981775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2"/>
          <p:cNvSpPr txBox="1"/>
          <p:nvPr>
            <p:ph type="title"/>
          </p:nvPr>
        </p:nvSpPr>
        <p:spPr>
          <a:xfrm rot="5400000">
            <a:off x="6244575" y="1286675"/>
            <a:ext cx="43893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52"/>
          <p:cNvSpPr txBox="1"/>
          <p:nvPr>
            <p:ph idx="1" type="body"/>
          </p:nvPr>
        </p:nvSpPr>
        <p:spPr>
          <a:xfrm rot="5400000">
            <a:off x="1633574" y="-904975"/>
            <a:ext cx="4389300" cy="6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52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52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52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53"/>
          <p:cNvSpPr txBox="1"/>
          <p:nvPr>
            <p:ph idx="1" type="body"/>
          </p:nvPr>
        </p:nvSpPr>
        <p:spPr>
          <a:xfrm rot="5400000">
            <a:off x="3394124" y="-1563650"/>
            <a:ext cx="3287700" cy="9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5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5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5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4"/>
          <p:cNvSpPr txBox="1"/>
          <p:nvPr>
            <p:ph type="title"/>
          </p:nvPr>
        </p:nvSpPr>
        <p:spPr>
          <a:xfrm>
            <a:off x="1976438" y="3968750"/>
            <a:ext cx="6048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54"/>
          <p:cNvSpPr/>
          <p:nvPr>
            <p:ph idx="2" type="pic"/>
          </p:nvPr>
        </p:nvSpPr>
        <p:spPr>
          <a:xfrm>
            <a:off x="1976438" y="506413"/>
            <a:ext cx="6048300" cy="34020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54"/>
          <p:cNvSpPr txBox="1"/>
          <p:nvPr>
            <p:ph idx="1" type="body"/>
          </p:nvPr>
        </p:nvSpPr>
        <p:spPr>
          <a:xfrm>
            <a:off x="1976438" y="4438650"/>
            <a:ext cx="6048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5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5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5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5"/>
          <p:cNvSpPr txBox="1"/>
          <p:nvPr>
            <p:ph type="title"/>
          </p:nvPr>
        </p:nvSpPr>
        <p:spPr>
          <a:xfrm>
            <a:off x="504825" y="225425"/>
            <a:ext cx="33162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55"/>
          <p:cNvSpPr txBox="1"/>
          <p:nvPr>
            <p:ph idx="1" type="body"/>
          </p:nvPr>
        </p:nvSpPr>
        <p:spPr>
          <a:xfrm>
            <a:off x="3941763" y="225425"/>
            <a:ext cx="56355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55"/>
          <p:cNvSpPr txBox="1"/>
          <p:nvPr>
            <p:ph idx="2" type="body"/>
          </p:nvPr>
        </p:nvSpPr>
        <p:spPr>
          <a:xfrm>
            <a:off x="504825" y="1185863"/>
            <a:ext cx="3316200" cy="3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5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5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5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5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5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7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57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57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57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8"/>
          <p:cNvSpPr txBox="1"/>
          <p:nvPr>
            <p:ph type="title"/>
          </p:nvPr>
        </p:nvSpPr>
        <p:spPr>
          <a:xfrm>
            <a:off x="504825" y="227013"/>
            <a:ext cx="9072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58"/>
          <p:cNvSpPr txBox="1"/>
          <p:nvPr>
            <p:ph idx="1" type="body"/>
          </p:nvPr>
        </p:nvSpPr>
        <p:spPr>
          <a:xfrm>
            <a:off x="504825" y="1270000"/>
            <a:ext cx="4452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58"/>
          <p:cNvSpPr txBox="1"/>
          <p:nvPr>
            <p:ph idx="2" type="body"/>
          </p:nvPr>
        </p:nvSpPr>
        <p:spPr>
          <a:xfrm>
            <a:off x="504825" y="1798638"/>
            <a:ext cx="44529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58"/>
          <p:cNvSpPr txBox="1"/>
          <p:nvPr>
            <p:ph idx="3" type="body"/>
          </p:nvPr>
        </p:nvSpPr>
        <p:spPr>
          <a:xfrm>
            <a:off x="5121275" y="1270000"/>
            <a:ext cx="445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58"/>
          <p:cNvSpPr txBox="1"/>
          <p:nvPr>
            <p:ph idx="4" type="body"/>
          </p:nvPr>
        </p:nvSpPr>
        <p:spPr>
          <a:xfrm>
            <a:off x="5121275" y="1798638"/>
            <a:ext cx="44562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58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p58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p58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9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59"/>
          <p:cNvSpPr txBox="1"/>
          <p:nvPr>
            <p:ph idx="1" type="body"/>
          </p:nvPr>
        </p:nvSpPr>
        <p:spPr>
          <a:xfrm>
            <a:off x="503238" y="1327150"/>
            <a:ext cx="44577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59"/>
          <p:cNvSpPr txBox="1"/>
          <p:nvPr>
            <p:ph idx="2" type="body"/>
          </p:nvPr>
        </p:nvSpPr>
        <p:spPr>
          <a:xfrm>
            <a:off x="5113338" y="1327150"/>
            <a:ext cx="44592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59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59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59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0"/>
          <p:cNvSpPr txBox="1"/>
          <p:nvPr>
            <p:ph type="title"/>
          </p:nvPr>
        </p:nvSpPr>
        <p:spPr>
          <a:xfrm>
            <a:off x="796925" y="3643313"/>
            <a:ext cx="85677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60"/>
          <p:cNvSpPr txBox="1"/>
          <p:nvPr>
            <p:ph idx="1" type="body"/>
          </p:nvPr>
        </p:nvSpPr>
        <p:spPr>
          <a:xfrm>
            <a:off x="796925" y="2403475"/>
            <a:ext cx="85677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6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6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6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1"/>
          <p:cNvSpPr txBox="1"/>
          <p:nvPr>
            <p:ph type="ctrTitle"/>
          </p:nvPr>
        </p:nvSpPr>
        <p:spPr>
          <a:xfrm>
            <a:off x="755650" y="1762125"/>
            <a:ext cx="85692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61"/>
          <p:cNvSpPr txBox="1"/>
          <p:nvPr>
            <p:ph idx="1" type="subTitle"/>
          </p:nvPr>
        </p:nvSpPr>
        <p:spPr>
          <a:xfrm>
            <a:off x="1512888" y="3213100"/>
            <a:ext cx="70563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6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6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6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503238" y="225425"/>
            <a:ext cx="9069387" cy="944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29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7" name="Google Shape;18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0080625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503237" y="1327150"/>
            <a:ext cx="9069387" cy="32877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" name="Google Shape;191;p30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3" name="Google Shape;193;p30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 rot="5400000">
            <a:off x="6244431" y="1286669"/>
            <a:ext cx="4389438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 rot="5400000">
            <a:off x="1633537" y="-904875"/>
            <a:ext cx="4389438" cy="66500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31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8" name="Google Shape;198;p31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9" name="Google Shape;199;p31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 rot="5400000">
            <a:off x="3394075" y="-1563687"/>
            <a:ext cx="3287712" cy="90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3" name="Google Shape;203;p32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4" name="Google Shape;204;p32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Google Shape;205;p32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1976438" y="3968750"/>
            <a:ext cx="6048375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8" name="Google Shape;208;p33"/>
          <p:cNvSpPr/>
          <p:nvPr>
            <p:ph idx="2" type="pic"/>
          </p:nvPr>
        </p:nvSpPr>
        <p:spPr>
          <a:xfrm>
            <a:off x="1976438" y="506413"/>
            <a:ext cx="6048375" cy="3402012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1976438" y="4438650"/>
            <a:ext cx="6048375" cy="6651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0" name="Google Shape;210;p33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1" name="Google Shape;211;p33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2" name="Google Shape;212;p33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504825" y="225425"/>
            <a:ext cx="3316288" cy="9604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3941763" y="225425"/>
            <a:ext cx="5635625" cy="4840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6" name="Google Shape;216;p34"/>
          <p:cNvSpPr txBox="1"/>
          <p:nvPr>
            <p:ph idx="2" type="body"/>
          </p:nvPr>
        </p:nvSpPr>
        <p:spPr>
          <a:xfrm>
            <a:off x="504825" y="1185863"/>
            <a:ext cx="3316288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7" name="Google Shape;217;p34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2" name="Google Shape;222;p35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3" name="Google Shape;223;p35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4" name="Google Shape;224;p35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504825" y="227013"/>
            <a:ext cx="9072563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504825" y="1270000"/>
            <a:ext cx="4452938" cy="5286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2" type="body"/>
          </p:nvPr>
        </p:nvSpPr>
        <p:spPr>
          <a:xfrm>
            <a:off x="504825" y="1798638"/>
            <a:ext cx="4452938" cy="3267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3" type="body"/>
          </p:nvPr>
        </p:nvSpPr>
        <p:spPr>
          <a:xfrm>
            <a:off x="5121275" y="1270000"/>
            <a:ext cx="4456113" cy="5286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4" type="body"/>
          </p:nvPr>
        </p:nvSpPr>
        <p:spPr>
          <a:xfrm>
            <a:off x="5121275" y="1798638"/>
            <a:ext cx="4456113" cy="3267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1" name="Google Shape;231;p36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503238" y="1327150"/>
            <a:ext cx="4457700" cy="32877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2" type="body"/>
          </p:nvPr>
        </p:nvSpPr>
        <p:spPr>
          <a:xfrm>
            <a:off x="5113338" y="1327150"/>
            <a:ext cx="4459287" cy="32877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9" name="Google Shape;239;p37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0" name="Google Shape;240;p37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796925" y="3643313"/>
            <a:ext cx="8567738" cy="1127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796925" y="2403475"/>
            <a:ext cx="8567738" cy="12398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5" name="Google Shape;245;p38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6" name="Google Shape;246;p38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ctrTitle"/>
          </p:nvPr>
        </p:nvSpPr>
        <p:spPr>
          <a:xfrm>
            <a:off x="755650" y="1762125"/>
            <a:ext cx="8569325" cy="1214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" type="subTitle"/>
          </p:nvPr>
        </p:nvSpPr>
        <p:spPr>
          <a:xfrm>
            <a:off x="1512888" y="3213100"/>
            <a:ext cx="7056437" cy="14493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" name="Google Shape;250;p39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1" name="Google Shape;251;p39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2" name="Google Shape;252;p39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25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2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2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172" name="Google Shape;172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"/>
            <a:ext cx="10080625" cy="565989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7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503237" y="1327150"/>
            <a:ext cx="9069387" cy="32877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27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p27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"/>
          <p:cNvSpPr txBox="1"/>
          <p:nvPr/>
        </p:nvSpPr>
        <p:spPr>
          <a:xfrm>
            <a:off x="503237" y="35782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BANCO DE DADOS</a:t>
            </a:r>
            <a:endParaRPr b="0" i="0" sz="3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64" name="Google Shape;2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2000">
                <a:solidFill>
                  <a:srgbClr val="FFFFFF"/>
                </a:solidFill>
              </a:rPr>
              <a:t>BANCO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DEFINIÇÕES BÁSICAS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"/>
          <p:cNvSpPr txBox="1"/>
          <p:nvPr/>
        </p:nvSpPr>
        <p:spPr>
          <a:xfrm>
            <a:off x="153675" y="1336275"/>
            <a:ext cx="9790200" cy="3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127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800">
                <a:solidFill>
                  <a:schemeClr val="dk1"/>
                </a:solidFill>
              </a:rPr>
              <a:t>Banco de dados - Definições básicas: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3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Conjunto de dados relacionados entre si com registros sobre pessoas, lugares ou coisas;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São coleções organizadas de dados que se relacionam de forma a criar algum sentido;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Dados (sem sentido) → Informação (com sentido);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72" name="Google Shape;272;g28a138749c4_1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28a138749c4_1_6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BANCO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APLICAÇÕES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28a138749c4_1_6"/>
          <p:cNvSpPr txBox="1"/>
          <p:nvPr/>
        </p:nvSpPr>
        <p:spPr>
          <a:xfrm>
            <a:off x="153675" y="1336275"/>
            <a:ext cx="9790200" cy="3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127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800">
                <a:solidFill>
                  <a:schemeClr val="dk1"/>
                </a:solidFill>
              </a:rPr>
              <a:t>Banco de dados - Exemplos de aplicações: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3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E-mails (endereços, mensagens)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Lojas virtuais (produtos, clientes)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Youtube (</a:t>
            </a:r>
            <a:r>
              <a:rPr lang="pt-BR" sz="1800">
                <a:solidFill>
                  <a:schemeClr val="dk1"/>
                </a:solidFill>
              </a:rPr>
              <a:t>videos</a:t>
            </a:r>
            <a:r>
              <a:rPr lang="pt-BR" sz="1800">
                <a:solidFill>
                  <a:schemeClr val="dk1"/>
                </a:solidFill>
              </a:rPr>
              <a:t>, títulos, descrições)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Atente.net (contribuintes, funcionários, pagamentos)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275" name="Google Shape;275;g28a138749c4_1_6"/>
          <p:cNvGraphicFramePr/>
          <p:nvPr/>
        </p:nvGraphicFramePr>
        <p:xfrm>
          <a:off x="898811" y="34300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{32500883-D969-47D4-BE85-CB3D66BAB0D4}</a:tableStyleId>
              </a:tblPr>
              <a:tblGrid>
                <a:gridCol w="2043425"/>
                <a:gridCol w="2043425"/>
                <a:gridCol w="2043425"/>
                <a:gridCol w="2043425"/>
              </a:tblGrid>
              <a:tr h="395975"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produto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39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fabricante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valor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77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estoque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975"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Iphone X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8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39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Apple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8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4000,00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8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77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142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8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Galaxy S9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39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Samsung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2600,00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77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221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81" name="Google Shape;281;g28a138749c4_1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28a138749c4_1_13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BANCO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SGBD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28a138749c4_1_13"/>
          <p:cNvSpPr txBox="1"/>
          <p:nvPr/>
        </p:nvSpPr>
        <p:spPr>
          <a:xfrm>
            <a:off x="145975" y="1203625"/>
            <a:ext cx="9790200" cy="3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127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800">
                <a:solidFill>
                  <a:schemeClr val="dk1"/>
                </a:solidFill>
              </a:rPr>
              <a:t>SGBD - Sistemas Gerenciadores de Bancos de Dados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marR="200660" rtl="0" algn="just">
              <a:lnSpc>
                <a:spcPct val="137777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Coleção de programas de computador responsáveis pelo gerenciamento de uma base  de dados.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Os bancos de dados são operados pelos SGBD’s.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127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800">
                <a:solidFill>
                  <a:schemeClr val="dk1"/>
                </a:solidFill>
              </a:rPr>
              <a:t>O SGBD: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Disponibiliza uma interface para que seus clientes possam </a:t>
            </a:r>
            <a:r>
              <a:rPr b="1" lang="pt-BR" sz="1800">
                <a:solidFill>
                  <a:schemeClr val="dk1"/>
                </a:solidFill>
              </a:rPr>
              <a:t>incluir, alterar ou consultar</a:t>
            </a:r>
            <a:endParaRPr sz="1800">
              <a:solidFill>
                <a:schemeClr val="dk1"/>
              </a:solidFill>
            </a:endParaRPr>
          </a:p>
          <a:p>
            <a:pPr indent="0" lvl="0" marL="469900" rtl="0" algn="just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800">
                <a:solidFill>
                  <a:schemeClr val="dk1"/>
                </a:solidFill>
              </a:rPr>
              <a:t>dados previamente armazenados na base através da </a:t>
            </a:r>
            <a:r>
              <a:rPr b="1" lang="pt-BR" sz="1800">
                <a:solidFill>
                  <a:schemeClr val="dk1"/>
                </a:solidFill>
              </a:rPr>
              <a:t>linguagem SQL</a:t>
            </a:r>
            <a:r>
              <a:rPr lang="pt-BR" sz="1800">
                <a:solidFill>
                  <a:schemeClr val="dk1"/>
                </a:solidFill>
              </a:rPr>
              <a:t>;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Encripta e salva os dados no HD;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39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Mantém em memória os dados mais acessados;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Controla as transações.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89" name="Google Shape;289;g28a138749c4_1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28a138749c4_1_20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BANCO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SGBD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28a138749c4_1_20"/>
          <p:cNvSpPr txBox="1"/>
          <p:nvPr/>
        </p:nvSpPr>
        <p:spPr>
          <a:xfrm>
            <a:off x="153675" y="1336275"/>
            <a:ext cx="6241800" cy="3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12700" marR="5080" rtl="0" algn="just">
              <a:lnSpc>
                <a:spcPct val="114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12700" marR="5080" rtl="0" algn="just">
              <a:lnSpc>
                <a:spcPct val="1147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000">
                <a:solidFill>
                  <a:schemeClr val="dk1"/>
                </a:solidFill>
              </a:rPr>
              <a:t>O SGBD utilizado pela IPM no desenvolvimento de aplicações  é o PostgreSQL.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12700" marR="840739" rtl="0" algn="just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2000">
                <a:solidFill>
                  <a:schemeClr val="dk1"/>
                </a:solidFill>
              </a:rPr>
              <a:t>Para gerenciar e desenvolver no SGBD PostgreSQL, é  utilizada a ferramenta pgAdmin.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92" name="Google Shape;292;g28a138749c4_1_20"/>
          <p:cNvSpPr/>
          <p:nvPr/>
        </p:nvSpPr>
        <p:spPr>
          <a:xfrm>
            <a:off x="7127450" y="1744888"/>
            <a:ext cx="2105100" cy="2171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98" name="Google Shape;298;g28a138749c4_1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28a138749c4_1_27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BANCO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ESTRUTURA DE UM BANCO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28a138749c4_1_27"/>
          <p:cNvSpPr txBox="1"/>
          <p:nvPr/>
        </p:nvSpPr>
        <p:spPr>
          <a:xfrm>
            <a:off x="145200" y="1637725"/>
            <a:ext cx="9790200" cy="28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127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Estrutura de um banco de dados: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Formado por uma ou mais tabelas;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Toda tabela (entidade) é identificada por um nome;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Atributos: colunas que descrevem características da tabela;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Domínio: tipo de dado que descreve os tipos de valores que cada coluna aceitará;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39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Tupla: linhas que representam um registro;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Os bancos de dados são organizados como um conjunto de tabelas relacionadas entre si.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06" name="Google Shape;306;g28a138749c4_1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28a138749c4_1_34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BANCO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ESTRUTURA DE UM BANCO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8" name="Google Shape;308;g28a138749c4_1_34"/>
          <p:cNvGraphicFramePr/>
          <p:nvPr/>
        </p:nvGraphicFramePr>
        <p:xfrm>
          <a:off x="647724" y="14366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{32500883-D969-47D4-BE85-CB3D66BAB0D4}</a:tableStyleId>
              </a:tblPr>
              <a:tblGrid>
                <a:gridCol w="974950"/>
                <a:gridCol w="2926750"/>
                <a:gridCol w="826625"/>
                <a:gridCol w="736575"/>
                <a:gridCol w="1136575"/>
              </a:tblGrid>
              <a:tr h="431675">
                <a:tc gridSpan="5">
                  <a:txBody>
                    <a:bodyPr/>
                    <a:lstStyle/>
                    <a:p>
                      <a:pPr indent="0" lvl="0" marL="254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tbpessoa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388175">
                <a:tc>
                  <a:txBody>
                    <a:bodyPr/>
                    <a:lstStyle/>
                    <a:p>
                      <a:pPr indent="0" lvl="0" marL="0" marR="9715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pescodigo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3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25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pesnome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3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9779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pessexo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3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9017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pestipo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3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025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logcodigo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3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5425">
                <a:tc>
                  <a:txBody>
                    <a:bodyPr/>
                    <a:lstStyle/>
                    <a:p>
                      <a:pPr indent="0" lvl="0" marL="0" marR="8064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73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MELICIA</a:t>
                      </a: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GALENO SPINDOLA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78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112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73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55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73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55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73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5325">
                <a:tc>
                  <a:txBody>
                    <a:bodyPr/>
                    <a:lstStyle/>
                    <a:p>
                      <a:pPr indent="0" lvl="0" marL="0" marR="8064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7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CARMEN VICTORIA TUDE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175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7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62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7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62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7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5425">
                <a:tc>
                  <a:txBody>
                    <a:bodyPr/>
                    <a:lstStyle/>
                    <a:p>
                      <a:pPr indent="0" lvl="0" marL="0" marR="8064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85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LÍBIA REGIS DE SOUSA MARQUES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112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85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55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85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55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85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5325">
                <a:tc>
                  <a:txBody>
                    <a:bodyPr/>
                    <a:lstStyle/>
                    <a:p>
                      <a:pPr indent="0" lvl="0" marL="0" marR="8064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ROMULO ARAUJO DA ROCHA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7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175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62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8001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5425">
                <a:tc>
                  <a:txBody>
                    <a:bodyPr/>
                    <a:lstStyle/>
                    <a:p>
                      <a:pPr indent="0" lvl="0" marL="0" marR="8064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GUSTAVO MACHADO BRITO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7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112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55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55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9" name="Google Shape;309;g28a138749c4_1_34"/>
          <p:cNvSpPr/>
          <p:nvPr/>
        </p:nvSpPr>
        <p:spPr>
          <a:xfrm>
            <a:off x="647712" y="4466300"/>
            <a:ext cx="981710" cy="163829"/>
          </a:xfrm>
          <a:custGeom>
            <a:rect b="b" l="l" r="r" t="t"/>
            <a:pathLst>
              <a:path extrusionOk="0" h="163829" w="981710">
                <a:moveTo>
                  <a:pt x="981138" y="0"/>
                </a:moveTo>
                <a:lnTo>
                  <a:pt x="974699" y="31853"/>
                </a:lnTo>
                <a:lnTo>
                  <a:pt x="957151" y="57848"/>
                </a:lnTo>
                <a:lnTo>
                  <a:pt x="931150" y="75366"/>
                </a:lnTo>
                <a:lnTo>
                  <a:pt x="899350" y="81787"/>
                </a:lnTo>
                <a:lnTo>
                  <a:pt x="572325" y="81787"/>
                </a:lnTo>
                <a:lnTo>
                  <a:pt x="540472" y="88210"/>
                </a:lnTo>
                <a:lnTo>
                  <a:pt x="514476" y="105724"/>
                </a:lnTo>
                <a:lnTo>
                  <a:pt x="496958" y="131701"/>
                </a:lnTo>
                <a:lnTo>
                  <a:pt x="490537" y="163512"/>
                </a:lnTo>
                <a:lnTo>
                  <a:pt x="484116" y="131701"/>
                </a:lnTo>
                <a:lnTo>
                  <a:pt x="466602" y="105724"/>
                </a:lnTo>
                <a:lnTo>
                  <a:pt x="440618" y="88210"/>
                </a:lnTo>
                <a:lnTo>
                  <a:pt x="408787" y="81787"/>
                </a:lnTo>
                <a:lnTo>
                  <a:pt x="81749" y="81787"/>
                </a:lnTo>
                <a:lnTo>
                  <a:pt x="49929" y="75366"/>
                </a:lnTo>
                <a:lnTo>
                  <a:pt x="23944" y="57848"/>
                </a:lnTo>
                <a:lnTo>
                  <a:pt x="6424" y="31853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5858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28a138749c4_1_34"/>
          <p:cNvSpPr txBox="1"/>
          <p:nvPr/>
        </p:nvSpPr>
        <p:spPr>
          <a:xfrm>
            <a:off x="874089" y="4629177"/>
            <a:ext cx="4971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chave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28a138749c4_1_34"/>
          <p:cNvSpPr/>
          <p:nvPr/>
        </p:nvSpPr>
        <p:spPr>
          <a:xfrm>
            <a:off x="7614101" y="2325148"/>
            <a:ext cx="114300" cy="2010410"/>
          </a:xfrm>
          <a:custGeom>
            <a:rect b="b" l="l" r="r" t="t"/>
            <a:pathLst>
              <a:path extrusionOk="0" h="2010410" w="114300">
                <a:moveTo>
                  <a:pt x="0" y="0"/>
                </a:moveTo>
                <a:lnTo>
                  <a:pt x="22217" y="4500"/>
                </a:lnTo>
                <a:lnTo>
                  <a:pt x="40385" y="16763"/>
                </a:lnTo>
                <a:lnTo>
                  <a:pt x="52649" y="34932"/>
                </a:lnTo>
                <a:lnTo>
                  <a:pt x="57150" y="57150"/>
                </a:lnTo>
                <a:lnTo>
                  <a:pt x="57150" y="947801"/>
                </a:lnTo>
                <a:lnTo>
                  <a:pt x="61632" y="970071"/>
                </a:lnTo>
                <a:lnTo>
                  <a:pt x="73866" y="988234"/>
                </a:lnTo>
                <a:lnTo>
                  <a:pt x="92029" y="1000468"/>
                </a:lnTo>
                <a:lnTo>
                  <a:pt x="114300" y="1004951"/>
                </a:lnTo>
                <a:lnTo>
                  <a:pt x="92029" y="1009433"/>
                </a:lnTo>
                <a:lnTo>
                  <a:pt x="73866" y="1021667"/>
                </a:lnTo>
                <a:lnTo>
                  <a:pt x="61632" y="1039830"/>
                </a:lnTo>
                <a:lnTo>
                  <a:pt x="57150" y="1062101"/>
                </a:lnTo>
                <a:lnTo>
                  <a:pt x="57150" y="1952752"/>
                </a:lnTo>
                <a:lnTo>
                  <a:pt x="52649" y="1974969"/>
                </a:lnTo>
                <a:lnTo>
                  <a:pt x="40385" y="1993138"/>
                </a:lnTo>
                <a:lnTo>
                  <a:pt x="22217" y="2005401"/>
                </a:lnTo>
                <a:lnTo>
                  <a:pt x="0" y="2009902"/>
                </a:lnTo>
              </a:path>
            </a:pathLst>
          </a:custGeom>
          <a:noFill/>
          <a:ln cap="flat" cmpd="sng" w="9525">
            <a:solidFill>
              <a:srgbClr val="5858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28a138749c4_1_34"/>
          <p:cNvSpPr txBox="1"/>
          <p:nvPr/>
        </p:nvSpPr>
        <p:spPr>
          <a:xfrm>
            <a:off x="7360476" y="1966347"/>
            <a:ext cx="12294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colunas/atributos</a:t>
            </a:r>
            <a:endParaRPr sz="12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28a138749c4_1_34"/>
          <p:cNvSpPr txBox="1"/>
          <p:nvPr/>
        </p:nvSpPr>
        <p:spPr>
          <a:xfrm>
            <a:off x="7884200" y="2671941"/>
            <a:ext cx="18924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188720" marR="5080" rtl="0" algn="l">
              <a:lnSpc>
                <a:spcPct val="102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tabela  entidade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8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registros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tuplas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28a138749c4_1_34"/>
          <p:cNvSpPr/>
          <p:nvPr/>
        </p:nvSpPr>
        <p:spPr>
          <a:xfrm>
            <a:off x="8624951" y="1533891"/>
            <a:ext cx="361950" cy="2762250"/>
          </a:xfrm>
          <a:custGeom>
            <a:rect b="b" l="l" r="r" t="t"/>
            <a:pathLst>
              <a:path extrusionOk="0" h="2762250" w="361950">
                <a:moveTo>
                  <a:pt x="0" y="0"/>
                </a:moveTo>
                <a:lnTo>
                  <a:pt x="48110" y="6455"/>
                </a:lnTo>
                <a:lnTo>
                  <a:pt x="91341" y="24675"/>
                </a:lnTo>
                <a:lnTo>
                  <a:pt x="127968" y="52943"/>
                </a:lnTo>
                <a:lnTo>
                  <a:pt x="156266" y="89539"/>
                </a:lnTo>
                <a:lnTo>
                  <a:pt x="174510" y="132747"/>
                </a:lnTo>
                <a:lnTo>
                  <a:pt x="180975" y="180848"/>
                </a:lnTo>
                <a:lnTo>
                  <a:pt x="180975" y="1200150"/>
                </a:lnTo>
                <a:lnTo>
                  <a:pt x="187439" y="1248250"/>
                </a:lnTo>
                <a:lnTo>
                  <a:pt x="205683" y="1291458"/>
                </a:lnTo>
                <a:lnTo>
                  <a:pt x="233981" y="1328054"/>
                </a:lnTo>
                <a:lnTo>
                  <a:pt x="270608" y="1356322"/>
                </a:lnTo>
                <a:lnTo>
                  <a:pt x="313839" y="1374542"/>
                </a:lnTo>
                <a:lnTo>
                  <a:pt x="361950" y="1380998"/>
                </a:lnTo>
                <a:lnTo>
                  <a:pt x="313839" y="1387462"/>
                </a:lnTo>
                <a:lnTo>
                  <a:pt x="270608" y="1405706"/>
                </a:lnTo>
                <a:lnTo>
                  <a:pt x="233981" y="1434004"/>
                </a:lnTo>
                <a:lnTo>
                  <a:pt x="205683" y="1470631"/>
                </a:lnTo>
                <a:lnTo>
                  <a:pt x="187439" y="1513862"/>
                </a:lnTo>
                <a:lnTo>
                  <a:pt x="180975" y="1561973"/>
                </a:lnTo>
                <a:lnTo>
                  <a:pt x="180975" y="2581275"/>
                </a:lnTo>
                <a:lnTo>
                  <a:pt x="174510" y="2629385"/>
                </a:lnTo>
                <a:lnTo>
                  <a:pt x="156266" y="2672616"/>
                </a:lnTo>
                <a:lnTo>
                  <a:pt x="127968" y="2709243"/>
                </a:lnTo>
                <a:lnTo>
                  <a:pt x="91341" y="2737541"/>
                </a:lnTo>
                <a:lnTo>
                  <a:pt x="48110" y="2755785"/>
                </a:lnTo>
                <a:lnTo>
                  <a:pt x="0" y="2762250"/>
                </a:lnTo>
              </a:path>
            </a:pathLst>
          </a:custGeom>
          <a:noFill/>
          <a:ln cap="flat" cmpd="sng" w="9525">
            <a:solidFill>
              <a:srgbClr val="5858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20" name="Google Shape;320;g28a138749c4_1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28a138749c4_1_42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BANCO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CHAVE PRIMÁRIA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28a138749c4_1_42"/>
          <p:cNvSpPr txBox="1"/>
          <p:nvPr/>
        </p:nvSpPr>
        <p:spPr>
          <a:xfrm>
            <a:off x="153675" y="1336275"/>
            <a:ext cx="9879000" cy="3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127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800">
                <a:solidFill>
                  <a:schemeClr val="dk1"/>
                </a:solidFill>
              </a:rPr>
              <a:t>É uma restrição utilizada para identificar de forma única, registros no banco de dados.</a:t>
            </a:r>
            <a:endParaRPr sz="1800">
              <a:solidFill>
                <a:schemeClr val="dk1"/>
              </a:solidFill>
            </a:endParaRPr>
          </a:p>
          <a:p>
            <a:pPr indent="0" lvl="0" marL="12700" rtl="0" algn="just"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800">
                <a:solidFill>
                  <a:schemeClr val="dk1"/>
                </a:solidFill>
              </a:rPr>
              <a:t>As colunas “chaves primárias” não podem estar vazias e devem conter valores únicos.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127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800">
                <a:solidFill>
                  <a:schemeClr val="dk1"/>
                </a:solidFill>
              </a:rPr>
              <a:t>Exemplos: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Na tabela de logradouros, a coluna que identifica unicamente cada registro é a ‘logcodigo’.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994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Na tabela de pessoas, a coluna que identifica unicamente cada registro é a ‘pescodigo’.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28" name="Google Shape;328;g28a138749c4_1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28a138749c4_1_49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BANCO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CHAVE ESTRANGEIRA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28a138749c4_1_49"/>
          <p:cNvSpPr txBox="1"/>
          <p:nvPr/>
        </p:nvSpPr>
        <p:spPr>
          <a:xfrm>
            <a:off x="153675" y="1107675"/>
            <a:ext cx="9790200" cy="18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É uma restrição utilizada para relacionar tabelas em um banco de dados.</a:t>
            </a:r>
            <a:endParaRPr sz="1800">
              <a:solidFill>
                <a:schemeClr val="dk1"/>
              </a:solidFill>
            </a:endParaRPr>
          </a:p>
          <a:p>
            <a:pPr indent="0" lvl="0" marL="12700" marR="126363" rtl="0" algn="l">
              <a:lnSpc>
                <a:spcPct val="100800"/>
              </a:lnSpc>
              <a:spcBef>
                <a:spcPts val="158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O relacionamento entre tabelas ocorre quando um atributo da tabela X faz referência à chave  primária da tabela Y.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marR="5080" rtl="0" algn="l">
              <a:lnSpc>
                <a:spcPct val="100800"/>
              </a:lnSpc>
              <a:spcBef>
                <a:spcPts val="9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Na tabela de contatos, a chave estrangeira ‘pescodigo’ faz referência a chave primária da  tabela de pessoas.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331" name="Google Shape;331;g28a138749c4_1_49"/>
          <p:cNvGraphicFramePr/>
          <p:nvPr/>
        </p:nvGraphicFramePr>
        <p:xfrm>
          <a:off x="6430448" y="29718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{32500883-D969-47D4-BE85-CB3D66BAB0D4}</a:tableStyleId>
              </a:tblPr>
              <a:tblGrid>
                <a:gridCol w="993150"/>
                <a:gridCol w="2040900"/>
              </a:tblGrid>
              <a:tr h="380750">
                <a:tc gridSpan="2">
                  <a:txBody>
                    <a:bodyPr/>
                    <a:lstStyle/>
                    <a:p>
                      <a:pPr indent="0" lvl="0" marL="1524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tblogradouro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0750">
                <a:tc>
                  <a:txBody>
                    <a:bodyPr/>
                    <a:lstStyle/>
                    <a:p>
                      <a:pPr indent="0" lvl="0" marL="698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logcodigo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378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logdescricao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50">
                <a:tc>
                  <a:txBody>
                    <a:bodyPr/>
                    <a:lstStyle/>
                    <a:p>
                      <a:pPr indent="0" lvl="0" marL="1778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84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IVO SILVEIRA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7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025">
                <a:tc>
                  <a:txBody>
                    <a:bodyPr/>
                    <a:lstStyle/>
                    <a:p>
                      <a:pPr indent="0" lvl="0" marL="1778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98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84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OSCAR BARCELOS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03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1778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05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84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ARISTILIANO RAMOS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0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2" name="Google Shape;332;g28a138749c4_1_49"/>
          <p:cNvGraphicFramePr/>
          <p:nvPr/>
        </p:nvGraphicFramePr>
        <p:xfrm>
          <a:off x="603294" y="29557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{32500883-D969-47D4-BE85-CB3D66BAB0D4}</a:tableStyleId>
              </a:tblPr>
              <a:tblGrid>
                <a:gridCol w="1074425"/>
                <a:gridCol w="1863725"/>
                <a:gridCol w="1127125"/>
              </a:tblGrid>
              <a:tr h="414775">
                <a:tc gridSpan="3"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tbpessoa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84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80875">
                <a:tc>
                  <a:txBody>
                    <a:bodyPr/>
                    <a:lstStyle/>
                    <a:p>
                      <a:pPr indent="0" lvl="0" marL="889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pescodigo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7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9817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pesnome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7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98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logcodigo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7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025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MELICIA GALENO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97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683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92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98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CARMEN VICTORIA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03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62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98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100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05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LÍBIA REGIS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0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683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05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3" name="Google Shape;333;g28a138749c4_1_49"/>
          <p:cNvSpPr/>
          <p:nvPr/>
        </p:nvSpPr>
        <p:spPr>
          <a:xfrm>
            <a:off x="4674489" y="3953128"/>
            <a:ext cx="1777364" cy="457200"/>
          </a:xfrm>
          <a:custGeom>
            <a:rect b="b" l="l" r="r" t="t"/>
            <a:pathLst>
              <a:path extrusionOk="0" h="457200" w="1777364">
                <a:moveTo>
                  <a:pt x="1701154" y="429078"/>
                </a:moveTo>
                <a:lnTo>
                  <a:pt x="1694434" y="456819"/>
                </a:lnTo>
                <a:lnTo>
                  <a:pt x="1777364" y="437769"/>
                </a:lnTo>
                <a:lnTo>
                  <a:pt x="1770591" y="432054"/>
                </a:lnTo>
                <a:lnTo>
                  <a:pt x="1713484" y="432054"/>
                </a:lnTo>
                <a:lnTo>
                  <a:pt x="1701154" y="429078"/>
                </a:lnTo>
                <a:close/>
              </a:path>
              <a:path extrusionOk="0" h="457200" w="1777364">
                <a:moveTo>
                  <a:pt x="1705615" y="410666"/>
                </a:moveTo>
                <a:lnTo>
                  <a:pt x="1701154" y="429078"/>
                </a:lnTo>
                <a:lnTo>
                  <a:pt x="1713484" y="432054"/>
                </a:lnTo>
                <a:lnTo>
                  <a:pt x="1717928" y="413639"/>
                </a:lnTo>
                <a:lnTo>
                  <a:pt x="1705615" y="410666"/>
                </a:lnTo>
                <a:close/>
              </a:path>
              <a:path extrusionOk="0" h="457200" w="1777364">
                <a:moveTo>
                  <a:pt x="1712340" y="382905"/>
                </a:moveTo>
                <a:lnTo>
                  <a:pt x="1705615" y="410666"/>
                </a:lnTo>
                <a:lnTo>
                  <a:pt x="1717928" y="413639"/>
                </a:lnTo>
                <a:lnTo>
                  <a:pt x="1713484" y="432054"/>
                </a:lnTo>
                <a:lnTo>
                  <a:pt x="1770591" y="432054"/>
                </a:lnTo>
                <a:lnTo>
                  <a:pt x="1712340" y="382905"/>
                </a:lnTo>
                <a:close/>
              </a:path>
              <a:path extrusionOk="0" h="457200" w="1777364">
                <a:moveTo>
                  <a:pt x="4572" y="0"/>
                </a:moveTo>
                <a:lnTo>
                  <a:pt x="0" y="18542"/>
                </a:lnTo>
                <a:lnTo>
                  <a:pt x="1701154" y="429078"/>
                </a:lnTo>
                <a:lnTo>
                  <a:pt x="1705615" y="410666"/>
                </a:lnTo>
                <a:lnTo>
                  <a:pt x="4572" y="0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28a138749c4_1_49"/>
          <p:cNvSpPr/>
          <p:nvPr/>
        </p:nvSpPr>
        <p:spPr>
          <a:xfrm>
            <a:off x="4676775" y="4743830"/>
            <a:ext cx="1775460" cy="76200"/>
          </a:xfrm>
          <a:custGeom>
            <a:rect b="b" l="l" r="r" t="t"/>
            <a:pathLst>
              <a:path extrusionOk="0" h="76200" w="1775460">
                <a:moveTo>
                  <a:pt x="1756421" y="28498"/>
                </a:moveTo>
                <a:lnTo>
                  <a:pt x="1711578" y="28498"/>
                </a:lnTo>
                <a:lnTo>
                  <a:pt x="1711705" y="47536"/>
                </a:lnTo>
                <a:lnTo>
                  <a:pt x="1698990" y="47596"/>
                </a:lnTo>
                <a:lnTo>
                  <a:pt x="1699133" y="76161"/>
                </a:lnTo>
                <a:lnTo>
                  <a:pt x="1775078" y="37719"/>
                </a:lnTo>
                <a:lnTo>
                  <a:pt x="1756421" y="28498"/>
                </a:lnTo>
                <a:close/>
              </a:path>
              <a:path extrusionOk="0" h="76200" w="1775460">
                <a:moveTo>
                  <a:pt x="1698894" y="28558"/>
                </a:moveTo>
                <a:lnTo>
                  <a:pt x="0" y="36588"/>
                </a:lnTo>
                <a:lnTo>
                  <a:pt x="0" y="55638"/>
                </a:lnTo>
                <a:lnTo>
                  <a:pt x="1698990" y="47596"/>
                </a:lnTo>
                <a:lnTo>
                  <a:pt x="1698894" y="28558"/>
                </a:lnTo>
                <a:close/>
              </a:path>
              <a:path extrusionOk="0" h="76200" w="1775460">
                <a:moveTo>
                  <a:pt x="1711578" y="28498"/>
                </a:moveTo>
                <a:lnTo>
                  <a:pt x="1698894" y="28558"/>
                </a:lnTo>
                <a:lnTo>
                  <a:pt x="1698990" y="47596"/>
                </a:lnTo>
                <a:lnTo>
                  <a:pt x="1711705" y="47536"/>
                </a:lnTo>
                <a:lnTo>
                  <a:pt x="1711578" y="28498"/>
                </a:lnTo>
                <a:close/>
              </a:path>
              <a:path extrusionOk="0" h="76200" w="1775460">
                <a:moveTo>
                  <a:pt x="1698752" y="0"/>
                </a:moveTo>
                <a:lnTo>
                  <a:pt x="1698894" y="28558"/>
                </a:lnTo>
                <a:lnTo>
                  <a:pt x="1756421" y="28498"/>
                </a:lnTo>
                <a:lnTo>
                  <a:pt x="1698752" y="0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28a138749c4_1_49"/>
          <p:cNvSpPr/>
          <p:nvPr/>
        </p:nvSpPr>
        <p:spPr>
          <a:xfrm>
            <a:off x="4674234" y="3917696"/>
            <a:ext cx="1778000" cy="521970"/>
          </a:xfrm>
          <a:custGeom>
            <a:rect b="b" l="l" r="r" t="t"/>
            <a:pathLst>
              <a:path extrusionOk="0" h="521970" w="1778000">
                <a:moveTo>
                  <a:pt x="1701753" y="27426"/>
                </a:moveTo>
                <a:lnTo>
                  <a:pt x="0" y="503427"/>
                </a:lnTo>
                <a:lnTo>
                  <a:pt x="5079" y="521842"/>
                </a:lnTo>
                <a:lnTo>
                  <a:pt x="1706916" y="45817"/>
                </a:lnTo>
                <a:lnTo>
                  <a:pt x="1701753" y="27426"/>
                </a:lnTo>
                <a:close/>
              </a:path>
              <a:path extrusionOk="0" h="521970" w="1778000">
                <a:moveTo>
                  <a:pt x="1768940" y="24002"/>
                </a:moveTo>
                <a:lnTo>
                  <a:pt x="1713991" y="24002"/>
                </a:lnTo>
                <a:lnTo>
                  <a:pt x="1719072" y="42417"/>
                </a:lnTo>
                <a:lnTo>
                  <a:pt x="1706916" y="45817"/>
                </a:lnTo>
                <a:lnTo>
                  <a:pt x="1714627" y="73278"/>
                </a:lnTo>
                <a:lnTo>
                  <a:pt x="1768940" y="24002"/>
                </a:lnTo>
                <a:close/>
              </a:path>
              <a:path extrusionOk="0" h="521970" w="1778000">
                <a:moveTo>
                  <a:pt x="1713991" y="24002"/>
                </a:moveTo>
                <a:lnTo>
                  <a:pt x="1701753" y="27426"/>
                </a:lnTo>
                <a:lnTo>
                  <a:pt x="1706916" y="45817"/>
                </a:lnTo>
                <a:lnTo>
                  <a:pt x="1719072" y="42417"/>
                </a:lnTo>
                <a:lnTo>
                  <a:pt x="1713991" y="24002"/>
                </a:lnTo>
                <a:close/>
              </a:path>
              <a:path extrusionOk="0" h="521970" w="1778000">
                <a:moveTo>
                  <a:pt x="1694052" y="0"/>
                </a:moveTo>
                <a:lnTo>
                  <a:pt x="1701753" y="27426"/>
                </a:lnTo>
                <a:lnTo>
                  <a:pt x="1713991" y="24002"/>
                </a:lnTo>
                <a:lnTo>
                  <a:pt x="1768940" y="24002"/>
                </a:lnTo>
                <a:lnTo>
                  <a:pt x="1777618" y="16128"/>
                </a:lnTo>
                <a:lnTo>
                  <a:pt x="1694052" y="0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41" name="Google Shape;341;g28a138749c4_1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g28a138749c4_1_56"/>
          <p:cNvSpPr txBox="1"/>
          <p:nvPr/>
        </p:nvSpPr>
        <p:spPr>
          <a:xfrm>
            <a:off x="5715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BANCO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LINGUAGEM SQL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28a138749c4_1_56"/>
          <p:cNvSpPr txBox="1"/>
          <p:nvPr/>
        </p:nvSpPr>
        <p:spPr>
          <a:xfrm>
            <a:off x="153675" y="1336275"/>
            <a:ext cx="9790200" cy="3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12700" marR="5080" rtl="0" algn="just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A linguagem SQL (Linguagem de Consulta Estruturada) é utilizada para acessar e manipular  um banco de dados.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127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O que podemos fazer com SQL?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Podemos realizar consultas em um banco de dados;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Podemos inserir/excluir registros em um banco de dados;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39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Podemos atualizar registros em um banco de dados;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Podemos criar novas tabelas em um banco de dados.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49" name="Google Shape;349;g28a138749c4_1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28a138749c4_1_63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BANCO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INDENTAÇÃO E ORGANIZAÇÃO CÓDIGO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28a138749c4_1_63"/>
          <p:cNvSpPr txBox="1"/>
          <p:nvPr/>
        </p:nvSpPr>
        <p:spPr>
          <a:xfrm>
            <a:off x="145975" y="1123575"/>
            <a:ext cx="9790200" cy="3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127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Todos os códigos SQL devem obedecer o padrão de indentação de código: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Código sempre em maiúsculo;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marR="5080" rtl="0" algn="just">
              <a:lnSpc>
                <a:spcPct val="1147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Respeitar 7 espaços iniciais para palavras reservadas do código SQL. Tem como  objetivo indicar onde começa cada cláusula;</a:t>
            </a:r>
            <a:endParaRPr sz="1800">
              <a:solidFill>
                <a:schemeClr val="dk1"/>
              </a:solidFill>
            </a:endParaRPr>
          </a:p>
          <a:p>
            <a:pPr indent="-343535" lvl="0" marL="469900" rtl="0" algn="just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No SELECT, cada campo deve respeitar uma linha.</a:t>
            </a:r>
            <a:endParaRPr sz="1800">
              <a:solidFill>
                <a:schemeClr val="dk1"/>
              </a:solidFill>
            </a:endParaRPr>
          </a:p>
          <a:p>
            <a:pPr indent="0" lvl="0" marL="2313305" rtl="0" algn="l">
              <a:spcBef>
                <a:spcPts val="1775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1154CC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b="1"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TABELA1.CAMPO1,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619760" lvl="0" marL="2561590" marR="3654425" rtl="0" algn="l">
              <a:lnSpc>
                <a:spcPct val="1147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TABELA2.CAMPO2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61590" marR="3654425" rtl="0" algn="l">
              <a:lnSpc>
                <a:spcPct val="1147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1154CC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b="1"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SCHEMA1.TABELA1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619760" lvl="0" marL="3180715" marR="1654175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1154CC"/>
                </a:solidFill>
                <a:latin typeface="Consolas"/>
                <a:ea typeface="Consolas"/>
                <a:cs typeface="Consolas"/>
                <a:sym typeface="Consolas"/>
              </a:rPr>
              <a:t>LEFT </a:t>
            </a:r>
            <a:r>
              <a:rPr b="1"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JOIN SCHEMA1.TABELA2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619760" lvl="0" marL="3180715" marR="1654175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pt-BR" sz="1800">
                <a:solidFill>
                  <a:srgbClr val="1154CC"/>
                </a:solidFill>
                <a:latin typeface="Consolas"/>
                <a:ea typeface="Consolas"/>
                <a:cs typeface="Consolas"/>
                <a:sym typeface="Consolas"/>
              </a:rPr>
              <a:t>ON </a:t>
            </a:r>
            <a:r>
              <a:rPr b="1"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TABELA2.CODIGO = TABELA1.CODIGO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437765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1154CC"/>
                </a:solidFill>
                <a:latin typeface="Consolas"/>
                <a:ea typeface="Consolas"/>
                <a:cs typeface="Consolas"/>
                <a:sym typeface="Consolas"/>
              </a:rPr>
              <a:t>WHERE </a:t>
            </a:r>
            <a:r>
              <a:rPr b="1"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TABELA1.CODIGO &lt; </a:t>
            </a:r>
            <a:r>
              <a:rPr b="1" lang="pt-BR" sz="180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b="1"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57" name="Google Shape;357;g28a138749c4_1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28a138749c4_1_70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BANCO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COMENTÁRIO DE CÓDIGO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28a138749c4_1_70"/>
          <p:cNvSpPr txBox="1"/>
          <p:nvPr/>
        </p:nvSpPr>
        <p:spPr>
          <a:xfrm>
            <a:off x="434580" y="2895827"/>
            <a:ext cx="3950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/* Esta linha não será executada  Esta também não </a:t>
            </a:r>
            <a:endParaRPr sz="1800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Também */ </a:t>
            </a:r>
            <a:endParaRPr sz="1800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b="1"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* 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1" lang="pt-BR" sz="18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 FROM</a:t>
            </a:r>
            <a:r>
              <a:rPr b="1"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pt-BR" sz="1800">
                <a:latin typeface="Consolas"/>
                <a:ea typeface="Consolas"/>
                <a:cs typeface="Consolas"/>
                <a:sym typeface="Consolas"/>
              </a:rPr>
              <a:t>TREINA</a:t>
            </a:r>
            <a:r>
              <a:rPr b="1"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TBPESSOA 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 WHERE</a:t>
            </a:r>
            <a:r>
              <a:rPr b="1"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PESCODIGO &gt; 3;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" name="Google Shape;360;g28a138749c4_1_70"/>
          <p:cNvSpPr txBox="1"/>
          <p:nvPr/>
        </p:nvSpPr>
        <p:spPr>
          <a:xfrm>
            <a:off x="5511018" y="2906519"/>
            <a:ext cx="4107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-- Esta linha não será executada </a:t>
            </a:r>
            <a:endParaRPr sz="1800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-- Esta também não </a:t>
            </a:r>
            <a:endParaRPr sz="1800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-- Também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b="1"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*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1" lang="pt-BR" sz="18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b="1" lang="pt-BR" sz="1800">
                <a:latin typeface="Consolas"/>
                <a:ea typeface="Consolas"/>
                <a:cs typeface="Consolas"/>
                <a:sym typeface="Consolas"/>
              </a:rPr>
              <a:t>TREINA</a:t>
            </a:r>
            <a:r>
              <a:rPr b="1"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.TBPESSOA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1" lang="pt-BR" sz="18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WHERE </a:t>
            </a:r>
            <a:r>
              <a:rPr b="1"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PESCODIGO &gt; 3;</a:t>
            </a:r>
            <a:endParaRPr/>
          </a:p>
        </p:txBody>
      </p:sp>
      <p:sp>
        <p:nvSpPr>
          <p:cNvPr id="361" name="Google Shape;361;g28a138749c4_1_70"/>
          <p:cNvSpPr txBox="1"/>
          <p:nvPr/>
        </p:nvSpPr>
        <p:spPr>
          <a:xfrm>
            <a:off x="153675" y="1107675"/>
            <a:ext cx="97902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2900" lvl="0" marL="457200" marR="5080" rtl="0" algn="just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Os comentários são utilizados para explicar o funcionamento de um código ou para  prevenir a sua execução.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Existem dois tipos de comentário: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</a:rPr>
              <a:t>Linha única;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</a:rPr>
              <a:t>Multilinha.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2"/>
          <p:cNvSpPr/>
          <p:nvPr/>
        </p:nvSpPr>
        <p:spPr>
          <a:xfrm>
            <a:off x="0" y="0"/>
            <a:ext cx="10080625" cy="5670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g_final.png" id="367" name="Google Shape;36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80626" cy="567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0x010100AE27F99DF18A4341BE4054373105936F</vt:lpwstr>
  </property>
  <property fmtid="{D5CDD505-2E9C-101B-9397-08002B2CF9AE}" pid="3" name="Order">
    <vt:r8>1507300.0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